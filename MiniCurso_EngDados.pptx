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D4FBB7-ED15-4C32-9255-33DE0F698525}">
  <a:tblStyle styleId="{B6D4FBB7-ED15-4C32-9255-33DE0F69852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FALA: quem são vocês dois, que isso é o fechamento de 10 semanas de grupo de estudos, e que dura 2 horas com intervalo no meio. Avisar do intervalo agora reduz a ansiedade da sala.</a:t>
            </a:r>
            <a:br>
              <a:rPr lang="en-US"/>
            </a:br>
            <a:r>
              <a:rPr lang="en-US"/>
              <a:t>"A gente não vai supor que vocês sabem alguma coisa de Engenharia de Dados. Se você nunca ouviu falar, está no lugar certo."</a:t>
            </a:r>
            <a:br>
              <a:rPr lang="en-US"/>
            </a:br>
            <a:r>
              <a:rPr lang="en-US"/>
              <a:t>0,5 min · Presenter A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MOSTRAR: deixa a imagem no ar em silêncio por 5 segundos — é a única pausa longa da apresentação inteira.</a:t>
            </a:r>
            <a:br>
              <a:rPr lang="en-US"/>
            </a:br>
            <a:r>
              <a:rPr lang="en-US"/>
              <a:t>"Isso aqui é o que um computador manda quando você pede a previsão do tempo." (aponta a esquerda) "E isso é o que uma pessoa entende." (aponta a direita)</a:t>
            </a:r>
            <a:br>
              <a:rPr lang="en-US"/>
            </a:br>
            <a:r>
              <a:rPr lang="en-US"/>
              <a:t>TRANSIÇÃO: "Essas duas horas são sobre o meio. Sobre o que precisa acontecer entre uma tela e a outra — e sobre quem faz isso acontecer."</a:t>
            </a:r>
            <a:br>
              <a:rPr lang="en-US"/>
            </a:br>
            <a:r>
              <a:rPr lang="en-US"/>
              <a:t>1,5 min · Presenter A · [PANDA] + rodada real do projeto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Conta o caso como história: "Alguém exportou uma planilha de um sistema antigo. O arquivo foi salvo num padrão de letra e lido em outro. Aí 'São Paulo' virou duas coisas diferentes."</a:t>
            </a:r>
            <a:br>
              <a:rPr lang="en-US"/>
            </a:br>
            <a:r>
              <a:rPr lang="en-US"/>
              <a:t>"O programa que leu esse arquivo não deu erro nenhum. Rodou liso. E qualquer contagem por estado passou a tratar 'São Paulo' como duas coisas diferentes — sem avisar ninguém."</a:t>
            </a:r>
            <a:br>
              <a:rPr lang="en-US"/>
            </a:br>
            <a:r>
              <a:rPr lang="en-US"/>
              <a:t>PERGUNTAR: Enquete 1 no Meet — "Você já desconfiou de um número num relatório? Sim / Não". Deixa 20s, mostra o resultado: "Então a gente está falando de um problema que vocês já viram."</a:t>
            </a:r>
            <a:br>
              <a:rPr lang="en-US"/>
            </a:br>
            <a:r>
              <a:rPr lang="en-US"/>
              <a:t>❓ "Isso não é só um erro de programação?" → "Erro de programação o computador te avisa. Esse aqui ninguém avisa — é o que faz ele ser pior."</a:t>
            </a:r>
            <a:br>
              <a:rPr lang="en-US"/>
            </a:br>
            <a:r>
              <a:rPr lang="en-US"/>
              <a:t>2,5 min · Presenter A · [PANDA] S1 (o encoding é do material)</a:t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duas caixas. Bug: o programa para e te conta. Problema de dado: o programa termina normalmente, e o número está errado.</a:t>
            </a:r>
            <a:br>
              <a:rPr lang="en-US"/>
            </a:br>
            <a:r>
              <a:rPr lang="en-US"/>
              <a:t>"A diferença prática é essa: no primeiro caso alguém descobre em cinco minutos. No segundo, o relatório sai, a reunião acontece, a decisão é tomada — e às vezes ninguém descobre nunca. Repara no exemplo: R$ 4.200 na tela, deveria ser R$ 42.000. Nada pisca, nada avisa."</a:t>
            </a:r>
            <a:br>
              <a:rPr lang="en-US"/>
            </a:br>
            <a:r>
              <a:rPr lang="en-US"/>
              <a:t>TRANSIÇÃO: "E aí vem a pergunta: quando isso acontece, quem é chamado?"</a:t>
            </a:r>
            <a:br>
              <a:rPr lang="en-US"/>
            </a:br>
            <a:r>
              <a:rPr lang="en-US"/>
              <a:t>1,5 min · Presenter A · [COMPL]</a:t>
            </a:r>
            <a:endParaRPr/>
          </a:p>
        </p:txBody>
      </p:sp>
      <p:sp>
        <p:nvSpPr>
          <p:cNvPr id="53" name="Google Shape;5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três papéis, pela fronteira prática: a conta está errada → analista · o modelo está errado → cientista · o dado não chegou, chegou duplicado ou chegou com 8 horas de atraso → engenheiro.</a:t>
            </a:r>
            <a:br>
              <a:rPr lang="en-US"/>
            </a:br>
            <a:r>
              <a:rPr lang="en-US"/>
              <a:t>"Os três trabalham com a mesma coisa. O que muda é o motivo pelo qual você é chamado."</a:t>
            </a:r>
            <a:br>
              <a:rPr lang="en-US"/>
            </a:br>
            <a:r>
              <a:rPr lang="en-US"/>
              <a:t>"Muita gente entra na área de dados achando que vai analisar, e descobre que vai consertar encanamento. E encanamento é mais escasso e costuma pagar melhor."</a:t>
            </a:r>
            <a:br>
              <a:rPr lang="en-US"/>
            </a:br>
            <a:r>
              <a:rPr lang="en-US"/>
              <a:t>❓ "Preciso saber estatística para ser engenheiro de dados?" → "Ajuda, mas não é o centro. O centro é programação, SQL e saber montar sistema que não quebra."</a:t>
            </a:r>
            <a:br>
              <a:rPr lang="en-US"/>
            </a:br>
            <a:r>
              <a:rPr lang="en-US"/>
              <a:t>2,0 min · Presenter A · [PANDA] S1 + [COMPL]</a:t>
            </a:r>
            <a:endParaRPr/>
          </a:p>
        </p:txBody>
      </p:sp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MOSTRAR: a frase inteira, colorida por trecho. Lê devagar, apontando cada pedaço colorido, e diz que cada cor é um bloco de hoje.</a:t>
            </a:r>
            <a:br>
              <a:rPr lang="en-US"/>
            </a:br>
            <a:r>
              <a:rPr lang="en-US"/>
              <a:t>"No fim da apresentação essa frase volta. E aí cada pedaço vai estar explicado."</a:t>
            </a:r>
            <a:br>
              <a:rPr lang="en-US"/>
            </a:br>
            <a:r>
              <a:rPr lang="en-US"/>
              <a:t>1,5 min · Presenter A · [COMPL]</a:t>
            </a:r>
            <a:endParaRPr/>
          </a:p>
        </p:txBody>
      </p:sp>
      <p:sp>
        <p:nvSpPr>
          <p:cNvPr id="81" name="Google Shape;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"Uma linha de Python abriu uma base de 12 mil imóveis. A segunda linha já mostrou que 1.540 deles não têm a área preenchida."</a:t>
            </a:r>
            <a:br>
              <a:rPr lang="en-US"/>
            </a:br>
            <a:r>
              <a:rPr lang="en-US"/>
              <a:t>"O arquivo abriu. Isso não quer dizer que ele está bom. O que fazer com esses 1.540 é uma decisão — e ela volta daqui a uma hora."</a:t>
            </a:r>
            <a:br>
              <a:rPr lang="en-US"/>
            </a:br>
            <a:r>
              <a:rPr lang="en-US"/>
              <a:t>"Isso é Python com uma biblioteca chamada pandas. Ela lê planilha, CSV, JSON, arquivo de texto — e transforma tudo numa tabela só. É o denominador comum."</a:t>
            </a:r>
            <a:br>
              <a:rPr lang="en-US"/>
            </a:br>
            <a:r>
              <a:rPr lang="en-US"/>
              <a:t>"E o que se faz com ela é sempre a mesma coisa: filtrar o que interessa, resumir para tirar número, e criar coluna nova a partir das que já existem. Essa última é a que mais aparece — nessa base, divide o preço pela área e nasce preço por metro quadrado. Ela não veio no arquivo. Ela foi calculada. Isso é o T de transformação, e vocês vão ver de novo hoje."</a:t>
            </a:r>
            <a:br>
              <a:rPr lang="en-US"/>
            </a:br>
            <a:r>
              <a:rPr lang="en-US"/>
              <a:t>❓ "Preciso saber pandas para trabalhar com isso?" → "Precisa saber manipular tabela em Python. Hoje pandas é o mais usado, mas já existem alternativas mais rápidas. Quem aprende um migra numa tarde."</a:t>
            </a:r>
            <a:br>
              <a:rPr lang="en-US"/>
            </a:br>
            <a:r>
              <a:rPr lang="en-US"/>
              <a:t>1,7 min · Presenter A · [PANDA] S1 (saída real do material)</a:t>
            </a:r>
            <a:endParaRPr/>
          </a:p>
        </p:txBody>
      </p:sp>
      <p:sp>
        <p:nvSpPr>
          <p:cNvPr id="94" name="Google Shape;9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b43b71a88_1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fb43b71a88_13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É aqui que você entrega o mapa da aula. As cinco divisões não são inventadas — são as etapas pelas quais todo dado passa.</a:t>
            </a:r>
            <a:br>
              <a:rPr lang="en-US"/>
            </a:br>
            <a:r>
              <a:rPr lang="en-US"/>
              <a:t>"Todo dado percorre o mesmo caminho, em qualquer empresa. Primeiro alguém descobre onde ele está. Depois alguém puxa ele de lá. Depois alguém trata, porque ele nunca vem pronto. Depois ele é guardado num lugar que aguente. E só no fim ele é usado por alguém."</a:t>
            </a:r>
            <a:br>
              <a:rPr lang="en-US"/>
            </a:br>
            <a:r>
              <a:rPr lang="en-US"/>
              <a:t>"Coleta, extração, tratamento, armazenamento e consumo. Isso tem nome: é o ciclo de vida do dado."</a:t>
            </a:r>
            <a:br>
              <a:rPr lang="en-US"/>
            </a:br>
            <a:r>
              <a:rPr lang="en-US"/>
              <a:t>"E essas cinco caixas vazias aqui são exatamente isso. Ao longo da apresentação, elas vão se preenchendo — e no fim a gente volta nessa mesma tela com tudo encaixado."</a:t>
            </a:r>
            <a:br>
              <a:rPr lang="en-US"/>
            </a:br>
            <a:r>
              <a:rPr lang="en-US"/>
              <a:t>TRANSIÇÃO: "A gente acabou de olhar um arquivo que já estava aqui, na nossa máquina. Só que quase nenhum dado importante começa assim."</a:t>
            </a:r>
            <a:br>
              <a:rPr lang="en-US"/>
            </a:br>
            <a:r>
              <a:rPr lang="en-US"/>
              <a:t>1,3 min · Presenter A · [COMPL]</a:t>
            </a:r>
            <a:endParaRPr/>
          </a:p>
        </p:txBody>
      </p:sp>
      <p:sp>
        <p:nvSpPr>
          <p:cNvPr id="108" name="Google Shape;108;g3fb43b71a88_13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b42c59ad1_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fb42c59ad1_6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PERGUNTAR (retórico, sem esperar resposta): "A previsão horária de oito capitais brasileiras é pública, é do governo, é de graça e não precisa de cadastro. Quanto tempo vocês acham que leva para trazer isso pra cá?"</a:t>
            </a:r>
            <a:br>
              <a:rPr lang="en-US"/>
            </a:br>
            <a:r>
              <a:rPr lang="en-US"/>
              <a:t>EXPLICAR: "Buscar leva cinco minutos. Fazer isso funcionar toda manhã, sozinho, para sempre, sem alguém lembrar de apertar o botão — isso é o resto da aula."</a:t>
            </a:r>
            <a:br>
              <a:rPr lang="en-US"/>
            </a:br>
            <a:r>
              <a:rPr lang="en-US"/>
              <a:t>1 min · Presenter A · [COMPL]</a:t>
            </a:r>
            <a:endParaRPr/>
          </a:p>
        </p:txBody>
      </p:sp>
      <p:sp>
        <p:nvSpPr>
          <p:cNvPr id="122" name="Google Shape;122;g3fb42c59ad1_6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b42c59ad1_6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b42c59ad1_6_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EXPLICAR, desmontando a URL na tela parte por parte: "API é um jeito de dois sistemas conversarem. Na prática, pra gente, é um endereço que você acessa e que devolve dado em vez de devolver uma página."</a:t>
            </a:r>
            <a:br>
              <a:rPr lang="en-US"/>
            </a:br>
            <a:r>
              <a:rPr lang="en-US"/>
              <a:t>Sobre os verbos: "Existem vários tipos de pedido. Em dados, 95% do trabalho é um só: GET. Porque a gente está buscando dado que já existe, não criando nada."</a:t>
            </a:r>
            <a:br>
              <a:rPr lang="en-US"/>
            </a:br>
            <a:r>
              <a:rPr lang="en-US"/>
              <a:t>❓ "Toda API é assim?" → "Essa é a mais comum, chama REST. Tem outros formatos, mas o raciocínio é o mesmo: você pede, ele devolve."</a:t>
            </a:r>
            <a:br>
              <a:rPr lang="en-US"/>
            </a:br>
            <a:r>
              <a:rPr lang="en-US"/>
              <a:t>1,5 min · Presenter A · [PANDA] S2</a:t>
            </a:r>
            <a:endParaRPr/>
          </a:p>
        </p:txBody>
      </p:sp>
      <p:sp>
        <p:nvSpPr>
          <p:cNvPr id="135" name="Google Shape;135;g3fb42c59ad1_6_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b42c59ad1_6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fb42c59ad1_6_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os dois blocos. EXPLICAR: "Quando a API dá erro, ela responde mesmo assim — só que o que vem não é o dado que você esperava."</a:t>
            </a:r>
            <a:br>
              <a:rPr lang="en-US"/>
            </a:br>
            <a:r>
              <a:rPr lang="en-US"/>
              <a:t>"Se você pedir pro Python ler aquilo como se fosse o dado, ele quebra com uma mensagem que não tem nada a ver com o problema real. Você vai passar meia hora procurando bug no lugar errado."</a:t>
            </a:r>
            <a:br>
              <a:rPr lang="en-US"/>
            </a:br>
            <a:r>
              <a:rPr lang="en-US"/>
              <a:t>"A linha de cima resolve isso: antes de usar a resposta, confere se deu certo."</a:t>
            </a:r>
            <a:br>
              <a:rPr lang="en-US"/>
            </a:br>
            <a:r>
              <a:rPr lang="en-US"/>
              <a:t>TRANSIÇÃO: "Isso é um padrão que vai voltar hoje várias vezes: diga o que você espera, e falhe quando não for isso."</a:t>
            </a:r>
            <a:br>
              <a:rPr lang="en-US"/>
            </a:br>
            <a:r>
              <a:rPr lang="en-US"/>
              <a:t>❓ "O que é 404? E 500?" → "404 é 'não existe'. 500 é problema do lado deles. E tem um que importa muito em pipeline: 429 — 'você está pedindo demais, pare um pouco'."</a:t>
            </a:r>
            <a:br>
              <a:rPr lang="en-US"/>
            </a:br>
            <a:r>
              <a:rPr lang="en-US"/>
              <a:t>2 min · Presenter A · [PANDA] S2</a:t>
            </a:r>
            <a:endParaRPr/>
          </a:p>
        </p:txBody>
      </p:sp>
      <p:sp>
        <p:nvSpPr>
          <p:cNvPr id="149" name="Google Shape;149;g3fb42c59ad1_6_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b42c59ad1_6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fb42c59ad1_6_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a URL da PTAX com o $select circulado, e a resposta com a chave value circulada.</a:t>
            </a:r>
            <a:br>
              <a:rPr lang="en-US"/>
            </a:br>
            <a:r>
              <a:rPr lang="en-US"/>
              <a:t>EXPLICAR: "Antes de escrever código, alguém abriu essa resposta e olhou. E foi assim que descobriu que os dados não estavam na raiz — estavam dentro de uma caixinha chamada 'value'. Sem olhar, o código quebra e você não sabe por quê."</a:t>
            </a:r>
            <a:br>
              <a:rPr lang="en-US"/>
            </a:br>
            <a:r>
              <a:rPr lang="en-US"/>
              <a:t>Aponta o $select: "Esse pedaço do endereço está dizendo 'me manda só essas três colunas'. É a mesma ideia do SELECT que vocês vão ver daqui a pouco, dentro de um banco de dados. As ideias se repetem em camadas diferentes."</a:t>
            </a:r>
            <a:br>
              <a:rPr lang="en-US"/>
            </a:br>
            <a:r>
              <a:rPr lang="en-US"/>
              <a:t>1,5 min · Presenter A · [PANDA] S2 + [COMPL]</a:t>
            </a:r>
            <a:endParaRPr/>
          </a:p>
        </p:txBody>
      </p:sp>
      <p:sp>
        <p:nvSpPr>
          <p:cNvPr id="172" name="Google Shape;172;g3fb42c59ad1_6_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b42c59ad1_6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fb42c59ad1_6_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⚠️ ÚNICO MOMENTO AO VIVO DA APRESENTAÇÃO. Plano B: python pipeline.py --offline (mesma saída, sem internet). Se nem isso: passa o slide, o texto já está aqui.</a:t>
            </a:r>
            <a:br>
              <a:rPr lang="en-US"/>
            </a:br>
            <a:r>
              <a:rPr lang="en-US"/>
              <a:t>MOSTRAR o código à esquerda, 14 linhas. Aponta as três partes: pede, confere, salva.</a:t>
            </a:r>
            <a:br>
              <a:rPr lang="en-US"/>
            </a:br>
            <a:r>
              <a:rPr lang="en-US"/>
              <a:t>DEMONSTRAR: roda `python extrair.py`. Narra: "Ele está chamando a API uma vez para cada capital. São oito." Quando aparecer a mensagem, abre a pasta data/raw/ e mostra o arquivo.</a:t>
            </a:r>
            <a:br>
              <a:rPr lang="en-US"/>
            </a:br>
            <a:r>
              <a:rPr lang="en-US"/>
              <a:t>EXPLICAR: "Pronto. Sem banco de dados, sem ferramenta nenhuma, sem nada instalado além do Python. Ele pediu e guardou. E guardou exatamente como veio — a gente não encostou no conteúdo."</a:t>
            </a:r>
            <a:br>
              <a:rPr lang="en-US"/>
            </a:br>
            <a:r>
              <a:rPr lang="en-US"/>
              <a:t>"Guardem isso, porque é a decisão mais barata e mais subestimada de um pipeline."</a:t>
            </a:r>
            <a:br>
              <a:rPr lang="en-US"/>
            </a:br>
            <a:r>
              <a:rPr lang="en-US"/>
              <a:t>❓ "Esse código foi você que escreveu?" → "Esse projeto eu montei junto com IA, como boa parte do que se escreve hoje. O que importa pra aula é o que ele faz e por que cada pedaço está aí."</a:t>
            </a:r>
            <a:br>
              <a:rPr lang="en-US"/>
            </a:br>
            <a:r>
              <a:rPr lang="en-US"/>
              <a:t>❓ "Quanto tempo leva pra aprender isso?" → "Esse arquivo, com Python básico, você escreve numa tarde. O que demora é tudo que vem depois — que é o resto da aula."</a:t>
            </a:r>
            <a:br>
              <a:rPr lang="en-US"/>
            </a:br>
            <a:r>
              <a:rPr lang="en-US"/>
              <a:t>3 min · Presenter A · projeto Clima das Capitais</a:t>
            </a:r>
            <a:endParaRPr/>
          </a:p>
        </p:txBody>
      </p:sp>
      <p:sp>
        <p:nvSpPr>
          <p:cNvPr id="186" name="Google Shape;186;g3fb42c59ad1_6_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b42c59ad1_6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fb42c59ad1_6_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 JSON real com as três listas paralelas alinhadas.</a:t>
            </a:r>
            <a:br>
              <a:rPr lang="en-US"/>
            </a:br>
            <a:r>
              <a:rPr lang="en-US"/>
              <a:t>EXPLICAR: "Repara numa coisa estranha. A gente esperava uma lista de medições: hora, temperatura, umidade — repetido. Não é isso que vem."</a:t>
            </a:r>
            <a:br>
              <a:rPr lang="en-US"/>
            </a:br>
            <a:r>
              <a:rPr lang="en-US"/>
              <a:t>"Vem uma lista só de horas. Depois uma lista só de temperaturas. Depois uma só de umidades. Tudo separado."</a:t>
            </a:r>
            <a:br>
              <a:rPr lang="en-US"/>
            </a:br>
            <a:r>
              <a:rPr lang="en-US"/>
              <a:t>"Alguém precisa costurar essas listas de volta. A primeira hora com a primeira temperatura, a segunda com a segunda. São três linhas de Python."</a:t>
            </a:r>
            <a:br>
              <a:rPr lang="en-US"/>
            </a:br>
            <a:r>
              <a:rPr lang="en-US"/>
              <a:t>TRANSIÇÃO: "Guardem essa palavra: coluna. Dado guardado em coluna e dado guardado em linha são coisas diferentes. Isso volta daqui a meia hora."</a:t>
            </a:r>
            <a:br>
              <a:rPr lang="en-US"/>
            </a:br>
            <a:r>
              <a:rPr lang="en-US"/>
              <a:t>❓ "Por que eles fazem assim?" → "Porque ocupa menos espaço. Repetir 'temperatura' em toda medição é desperdício — assim ela aparece uma vez só."</a:t>
            </a:r>
            <a:br>
              <a:rPr lang="en-US"/>
            </a:br>
            <a:r>
              <a:rPr lang="en-US"/>
              <a:t>2 min · Presenter A · rodada real + [COMPL]</a:t>
            </a:r>
            <a:endParaRPr/>
          </a:p>
        </p:txBody>
      </p:sp>
      <p:sp>
        <p:nvSpPr>
          <p:cNvPr id="200" name="Google Shape;200;g3fb42c59ad1_6_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b42c59ad1_6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fb42c59ad1_6_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EXPLICAR: "Quando a base é grande, a API não te entrega tudo de uma vez. Ela te dá os primeiros cem e diz: se quiser mais, peça a próxima página."</a:t>
            </a:r>
            <a:br>
              <a:rPr lang="en-US"/>
            </a:br>
            <a:r>
              <a:rPr lang="en-US"/>
              <a:t>"E tem um limite de quantas vezes você pode pedir por minuto. Se estourar, ela responde com um código que quer dizer: pare."</a:t>
            </a:r>
            <a:br>
              <a:rPr lang="en-US"/>
            </a:br>
            <a:r>
              <a:rPr lang="en-US"/>
              <a:t>PERGUNTAR (Chat 2): "Imagina que 500 pessoas tomam esse erro no mesmo segundo, e todas mandam o programa tentar de novo depois de exatamente um segundo. O que acontece? Escreve no chat."</a:t>
            </a:r>
            <a:br>
              <a:rPr lang="en-US"/>
            </a:br>
            <a:r>
              <a:rPr lang="en-US"/>
              <a:t>Lê 2 respostas. Responde: "Acontece uma segunda avalanche, sincronizada. Por isso se soma um tempinho aleatório — pra que ninguém volte ao mesmo tempo."</a:t>
            </a:r>
            <a:br>
              <a:rPr lang="en-US"/>
            </a:br>
            <a:r>
              <a:rPr lang="en-US"/>
              <a:t>❓ "Como eu sei qual é o limite da API?" → "Está na documentação. E quando não está, você descobre tomando 429."</a:t>
            </a:r>
            <a:br>
              <a:rPr lang="en-US"/>
            </a:br>
            <a:r>
              <a:rPr lang="en-US"/>
              <a:t>2 min · Presenter A · [PANDA] S2 + [COMPL]</a:t>
            </a:r>
            <a:endParaRPr/>
          </a:p>
        </p:txBody>
      </p:sp>
      <p:sp>
        <p:nvSpPr>
          <p:cNvPr id="214" name="Google Shape;214;g3fb42c59ad1_6_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b42c59ad1_6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fb42c59ad1_6_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as três caixas, a terceira pontilhada e vazia.</a:t>
            </a:r>
            <a:br>
              <a:rPr lang="en-US"/>
            </a:br>
            <a:r>
              <a:rPr lang="en-US"/>
              <a:t>EXPLICAR: "O primeiro arquivo é o que a API mandou, sem a gente encostar. O segundo é esse mesmo dado já limpo e organizado."</a:t>
            </a:r>
            <a:br>
              <a:rPr lang="en-US"/>
            </a:br>
            <a:r>
              <a:rPr lang="en-US"/>
              <a:t>"Existe um terceiro, que a gente não vai fazer agora: o dado já respondendo uma pergunta. Tipo uma tabela com a temperatura máxima de cada capital por dia, pronta pra virar gráfico. Esse terceiro tem uma parte inteira da aula reservada pra ele."</a:t>
            </a:r>
            <a:br>
              <a:rPr lang="en-US"/>
            </a:br>
            <a:r>
              <a:rPr lang="en-US"/>
              <a:t>"E uma regra que vale sempre: senha e chave de API nunca ficam dentro do código. Ficam num arquivo separado, que não vai pro GitHub."</a:t>
            </a:r>
            <a:br>
              <a:rPr lang="en-US"/>
            </a:br>
            <a:r>
              <a:rPr lang="en-US"/>
              <a:t>TRANSIÇÃO (passa para a 🅑): "O dado chegou. Está num arquivo, numa pasta, na minha máquina. Aí essa pessoa sai de férias. Ou salva por cima. Ou renomeia. Onde é que esse dado deveria estar?"</a:t>
            </a:r>
            <a:br>
              <a:rPr lang="en-US"/>
            </a:br>
            <a:r>
              <a:rPr lang="en-US"/>
              <a:t>1 min · Presenter A · [PANDA] S2 · SAI 🅐, ENTRA 🅑 (00:25)</a:t>
            </a:r>
            <a:endParaRPr/>
          </a:p>
        </p:txBody>
      </p:sp>
      <p:sp>
        <p:nvSpPr>
          <p:cNvPr id="228" name="Google Shape;228;g3fb42c59ad1_6_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b43b71a88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fb43b71a88_5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TRANSIÇÃO: recebe a ponte de 🅐 — "...onde é que esse dado deveria estar?"</a:t>
            </a:r>
            <a:br>
              <a:rPr lang="en-US"/>
            </a:br>
            <a:r>
              <a:rPr lang="en-US"/>
              <a:t>EXPLICAR: "Boa pergunta. Porque um arquivo também guarda dado. Ele está ali, funcionou. Por que a gente não para por aqui?"</a:t>
            </a:r>
            <a:br>
              <a:rPr lang="en-US"/>
            </a:br>
            <a:r>
              <a:rPr lang="en-US"/>
              <a:t>MOSTRAR os quatro problemas circulados, um por um: aceita texto numa coluna de número · duas pessoas editando, uma salva por cima da outra · uma linha aponta pra cidade que não existe · a única pergunta possível é "me mostra tudo".</a:t>
            </a:r>
            <a:br>
              <a:rPr lang="en-US"/>
            </a:br>
            <a:r>
              <a:rPr lang="en-US"/>
              <a:t>APRESENTAR as opções da tela: "guardar dado tem basicamente três endereços: arquivo, banco de dados, e os lugares de análise em escala. Hoje a gente vai do primeiro pro segundo, e no fim do bloco fala do terceiro."</a:t>
            </a:r>
            <a:br>
              <a:rPr lang="en-US"/>
            </a:br>
            <a:r>
              <a:rPr lang="en-US"/>
              <a:t>"É por isso que existem bancos de dados. Não é frescura de organização — é que o arquivo não sabe dizer não."</a:t>
            </a:r>
            <a:br>
              <a:rPr lang="en-US"/>
            </a:br>
            <a:r>
              <a:rPr lang="en-US"/>
              <a:t>1,5 min · 🅑 · [COMPL]</a:t>
            </a:r>
            <a:endParaRPr/>
          </a:p>
        </p:txBody>
      </p:sp>
      <p:sp>
        <p:nvSpPr>
          <p:cNvPr id="242" name="Google Shape;242;g3fb43b71a88_5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b43b71a88_5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fb43b71a88_5_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 CREATE TABLE com as palavras destacadas. EXPLICAR cada uma: NOT NULL — "esse campo não pode ficar vazio"; tipo — "aqui só entra número; aqui só entra data"; REFERENCES — "essa coluna tem que apontar pra uma cidade que existe de verdade"; UNIQUE — "não pode ter duas leituras da mesma cidade na mesma hora".</a:t>
            </a:r>
            <a:br>
              <a:rPr lang="en-US"/>
            </a:br>
            <a:r>
              <a:rPr lang="en-US"/>
              <a:t>As duas chaves (nomeie — os nomes aparecem em toda vaga): "a coluna que identifica cada linha de forma única chama chave primária. A que aponta pra outra tabela chama chave estrangeira."</a:t>
            </a:r>
            <a:br>
              <a:rPr lang="en-US"/>
            </a:br>
            <a:r>
              <a:rPr lang="en-US"/>
              <a:t>Cardinalidade, três exemplos: "uma cidade tem várias medições — um para muitos, o caso mais comum. Uma pessoa tem um passaporte — um para um. Aluno e livro numa biblioteca — muitos para muitos, precisa de uma terceira tabela no meio."</a:t>
            </a:r>
            <a:br>
              <a:rPr lang="en-US"/>
            </a:br>
            <a:r>
              <a:rPr lang="en-US"/>
              <a:t>❓ "Isso não deixa o sistema lento?" → "Um pouco, na escrita. E vale a pena — dado errado custa muito mais caro que um milissegundo."</a:t>
            </a:r>
            <a:br>
              <a:rPr lang="en-US"/>
            </a:br>
            <a:r>
              <a:rPr lang="en-US"/>
              <a:t>3 min · 🅑 · [PANDA] S3 + projeto</a:t>
            </a:r>
            <a:endParaRPr/>
          </a:p>
        </p:txBody>
      </p:sp>
      <p:sp>
        <p:nvSpPr>
          <p:cNvPr id="260" name="Google Shape;260;g3fb43b71a88_5_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b43b71a88_5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fb43b71a88_5_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 INSERT de uma leitura pra cidade que não existe, e a mensagem de erro em vermelho. Deixa a mensagem na tela um instante.</a:t>
            </a:r>
            <a:br>
              <a:rPr lang="en-US"/>
            </a:br>
            <a:r>
              <a:rPr lang="en-US"/>
              <a:t>EXPLICAR: "O banco recusou. E repara: ninguém escreveu validação nenhuma em Python pra isso acontecer."</a:t>
            </a:r>
            <a:br>
              <a:rPr lang="en-US"/>
            </a:br>
            <a:r>
              <a:rPr lang="en-US"/>
              <a:t>O ponto do slide: "toda regra que o banco fiscaliza é uma regra que você não precisa escrever, não precisa testar e não pode esquecer."</a:t>
            </a:r>
            <a:br>
              <a:rPr lang="en-US"/>
            </a:br>
            <a:r>
              <a:rPr lang="en-US"/>
              <a:t>❓ "E se eu quiser mesmo gravar sem a cidade?" → "Aí você declara isso na hora de criar a tabela. O ponto não é que o banco proíbe tudo — é que ele obriga você a decidir antes, em vez de descobrir depois."</a:t>
            </a:r>
            <a:br>
              <a:rPr lang="en-US"/>
            </a:br>
            <a:r>
              <a:rPr lang="en-US"/>
              <a:t>2 min · 🅑 · [PANDA] S3</a:t>
            </a:r>
            <a:endParaRPr/>
          </a:p>
        </p:txBody>
      </p:sp>
      <p:sp>
        <p:nvSpPr>
          <p:cNvPr id="278" name="Google Shape;278;g3fb43b71a88_5_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b43b71a88_5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fb43b71a88_5_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 antes/depois. EXPLICAR: "essa tabela guarda as cidades, com um número pra cada uma. Essa aqui guarda as medições — e ela não guarda o nome da cidade, guarda o número."</a:t>
            </a:r>
            <a:br>
              <a:rPr lang="en-US"/>
            </a:br>
            <a:r>
              <a:rPr lang="en-US"/>
              <a:t>PERGUNTAR retórica: "e se eu quiser ver a medição com o nome da cidade junto?" Aponta a seta: "junta as duas pelo número. Em SQL isso se chama JOIN — colar duas tabelas pela coluna que elas têm em comum."</a:t>
            </a:r>
            <a:br>
              <a:rPr lang="en-US"/>
            </a:br>
            <a:r>
              <a:rPr lang="en-US"/>
              <a:t>❓ "Por que não guardar o nome direto na tabela de medições?" → "Porque aí o nome se repete em todas as linhas, e se alguém corrigir a grafia, tem que corrigir em milhares de lugares. É o problema que vem daqui a dois slides."</a:t>
            </a:r>
            <a:br>
              <a:rPr lang="en-US"/>
            </a:br>
            <a:r>
              <a:rPr lang="en-US"/>
              <a:t>2 min · 🅑 · [PANDA] S3</a:t>
            </a:r>
            <a:endParaRPr/>
          </a:p>
        </p:txBody>
      </p:sp>
      <p:sp>
        <p:nvSpPr>
          <p:cNvPr id="296" name="Google Shape;296;g3fb43b71a88_5_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b43b71a88_5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fb43b71a88_5_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EXPLICAR: "uma pergunta que parece boba e não é: o que uma linha de uma tabela representa?"</a:t>
            </a:r>
            <a:br>
              <a:rPr lang="en-US"/>
            </a:br>
            <a:r>
              <a:rPr lang="en-US"/>
              <a:t>MOSTRAR as três, uma por vez: "aqui, uma linha é uma cidade. Aqui, é uma cidade numa hora — não é uma cidade, é o encontro das duas coisas. E se eu resumir por dia, vira uma cidade num dia."</a:t>
            </a:r>
            <a:br>
              <a:rPr lang="en-US"/>
            </a:br>
            <a:r>
              <a:rPr lang="en-US"/>
              <a:t>"Isso tem nome: granularidade. E vocês já responderam essa pergunta três vezes hoje, sem saber que ela tinha nome."</a:t>
            </a:r>
            <a:br>
              <a:rPr lang="en-US"/>
            </a:br>
            <a:r>
              <a:rPr lang="en-US"/>
              <a:t>APRESENTAR o termo novo da tela: "e aqui entra uma palavra que vai voltar: data warehouse. É um banco feito pra analisar, não pra operar — guarda histórico e responde perguntas sobre milhões de linhas de uma vez. No fim do bloco a gente volta nele com calma."</a:t>
            </a:r>
            <a:br>
              <a:rPr lang="en-US"/>
            </a:br>
            <a:r>
              <a:rPr lang="en-US"/>
              <a:t>"A diferença, no mundo analítico, é que lá você escolhe a granularidade — e se escolher errado, não tem volta."</a:t>
            </a:r>
            <a:br>
              <a:rPr lang="en-US"/>
            </a:br>
            <a:r>
              <a:rPr lang="en-US"/>
              <a:t>2 min · 🅑 · [COMPL] + [PANDA] S7</a:t>
            </a:r>
            <a:endParaRPr/>
          </a:p>
        </p:txBody>
      </p:sp>
      <p:sp>
        <p:nvSpPr>
          <p:cNvPr id="314" name="Google Shape;314;g3fb43b71a88_5_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b43b71a88_5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fb43b71a88_5_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a tabela desnormalizada, com "Ana Souza / Engenharia de Dados" repetido em três linhas. EXPLICAR: "o nome da Ana e o curso dela aparecem em três linhas, porque ela pegou três livros emprestados."</a:t>
            </a:r>
            <a:br>
              <a:rPr lang="en-US"/>
            </a:br>
            <a:r>
              <a:rPr lang="en-US"/>
              <a:t>PERGUNTAR retórica: "se a Ana trocar de curso, quantos lugares você precisa lembrar de mudar?" — "três. E basta esquecer um pro banco passar a dizer que ela está em dois cursos ao mesmo tempo."</a:t>
            </a:r>
            <a:br>
              <a:rPr lang="en-US"/>
            </a:br>
            <a:r>
              <a:rPr lang="en-US"/>
              <a:t>"Por isso se separa: aluno numa tabela, empréstimo em outra. O curso dela existe em um lugar só. Isso tem nome: normalização."</a:t>
            </a:r>
            <a:br>
              <a:rPr lang="en-US"/>
            </a:br>
            <a:r>
              <a:rPr lang="en-US"/>
              <a:t>MongoDB, uma frase: "existe um tipo de banco que faz o contrário, guarda tudo junto num documento só. Serve pra outros problemas. Hoje a gente não vai por esse caminho."</a:t>
            </a:r>
            <a:br>
              <a:rPr lang="en-US"/>
            </a:br>
            <a:r>
              <a:rPr lang="en-US"/>
              <a:t>1,5 min · 🅑 · [PANDA] S3</a:t>
            </a:r>
            <a:endParaRPr/>
          </a:p>
        </p:txBody>
      </p:sp>
      <p:sp>
        <p:nvSpPr>
          <p:cNvPr id="332" name="Google Shape;332;g3fb43b71a88_5_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b43b71a88_5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fb43b71a88_5_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 terminal com as duas execuções idênticas, e o SELECT COUNT(*) mostrando 768.</a:t>
            </a:r>
            <a:br>
              <a:rPr lang="en-US"/>
            </a:br>
            <a:r>
              <a:rPr lang="en-US"/>
              <a:t>EXPLICAR: "isso é real. Rodou o programa uma vez: gravou 381 medições. Rodou de novo, o mesmo arquivo: gravou 381 de novo. E a tabela ficou com 762."</a:t>
            </a:r>
            <a:br>
              <a:rPr lang="en-US"/>
            </a:br>
            <a:r>
              <a:rPr lang="en-US"/>
              <a:t>"O código está certo. O arquivo está certo. E a tabela está errada."</a:t>
            </a:r>
            <a:br>
              <a:rPr lang="en-US"/>
            </a:br>
            <a:r>
              <a:rPr lang="en-US"/>
              <a:t>TRANSIÇÃO: "guardem essa cena. Ela volta depois do intervalo, com um final diferente."</a:t>
            </a:r>
            <a:br>
              <a:rPr lang="en-US"/>
            </a:br>
            <a:r>
              <a:rPr lang="en-US"/>
              <a:t>❓ "Não bastaria apagar antes de gravar?" → "Funciona, mas cria um momento em que o dado não existe. Se falhar no meio, você apagou o bom e não colocou o novo."</a:t>
            </a:r>
            <a:br>
              <a:rPr lang="en-US"/>
            </a:br>
            <a:r>
              <a:rPr lang="en-US"/>
              <a:t>1,5 min · 🅑 · rodada real do projeto</a:t>
            </a:r>
            <a:endParaRPr/>
          </a:p>
        </p:txBody>
      </p:sp>
      <p:sp>
        <p:nvSpPr>
          <p:cNvPr id="350" name="Google Shape;350;g3fb43b71a88_5_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b43b71a88_5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3fb43b71a88_5_1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os dois lados. EXPLICAR sem dramatizar, associando o que já foi visto:</a:t>
            </a:r>
            <a:br>
              <a:rPr lang="en-US"/>
            </a:br>
            <a:r>
              <a:rPr lang="en-US"/>
              <a:t>"Faz meia hora que eu venho dizendo que guardar a mesma informação em dois lugares dá problema. Foi por isso que a gente separou aluno numa tabela e empréstimo em outra."</a:t>
            </a:r>
            <a:br>
              <a:rPr lang="en-US"/>
            </a:br>
            <a:r>
              <a:rPr lang="en-US"/>
              <a:t>"Só que isso vale pra quem está escrevendo. Quando o problema é alguém lendo, a conta inverte: na tabela de contexto a palavra 'eletrônicos' vai aparecer repetida um milhão de vezes, de propósito, e vai estar certo."</a:t>
            </a:r>
            <a:br>
              <a:rPr lang="en-US"/>
            </a:br>
            <a:r>
              <a:rPr lang="en-US"/>
              <a:t>"As duas coisas estão certas porque são para pessoas diferentes: lá atrás o problema era quem grava; aqui, é quem consulta."</a:t>
            </a:r>
            <a:br>
              <a:rPr lang="en-US"/>
            </a:br>
            <a:r>
              <a:rPr lang="en-US"/>
              <a:t>TRANSIÇÃO: "os próximos slides mostram por que isso acontece — e o motivo é físico, não é filosófico."</a:t>
            </a:r>
            <a:br>
              <a:rPr lang="en-US"/>
            </a:br>
            <a:r>
              <a:rPr lang="en-US"/>
              <a:t>2 min · 🅑 · [COMPL]</a:t>
            </a:r>
            <a:endParaRPr/>
          </a:p>
        </p:txBody>
      </p:sp>
      <p:sp>
        <p:nvSpPr>
          <p:cNvPr id="368" name="Google Shape;368;g3fb43b71a88_5_1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b43b71a88_5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3fb43b71a88_5_1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as duas perguntas em caixas opostas. EXPLICAR: "mesma loja, mesmo dado, duas perguntas."</a:t>
            </a:r>
            <a:br>
              <a:rPr lang="en-US"/>
            </a:br>
            <a:r>
              <a:rPr lang="en-US"/>
              <a:t>"'O pedido 1001 foi pago?' — você precisa achar uma linha entre milhões, agora, em milissegundos."</a:t>
            </a:r>
            <a:br>
              <a:rPr lang="en-US"/>
            </a:br>
            <a:r>
              <a:rPr lang="en-US"/>
              <a:t>"'Qual categoria vendeu mais no trimestre?' — você precisa ler milhões de linhas, somar tudo, e pode demorar alguns segundos."</a:t>
            </a:r>
            <a:br>
              <a:rPr lang="en-US"/>
            </a:br>
            <a:r>
              <a:rPr lang="en-US"/>
              <a:t>Os nomes (aparecem em toda vaga): "o primeiro tipo chama OLTP, os sistemas de operação. O segundo chama OLAP, os de análise."</a:t>
            </a:r>
            <a:br>
              <a:rPr lang="en-US"/>
            </a:br>
            <a:r>
              <a:rPr lang="en-US"/>
              <a:t>"Nenhum banco é bom nas duas coisas ao mesmo tempo. E o motivo não é filosófico. É físico — é como o dado fica guardado no disco."</a:t>
            </a:r>
            <a:br>
              <a:rPr lang="en-US"/>
            </a:br>
            <a:r>
              <a:rPr lang="en-US"/>
              <a:t>2 min · 🅑 · [PANDA] S4/S7 + [COMPL]</a:t>
            </a:r>
            <a:endParaRPr/>
          </a:p>
        </p:txBody>
      </p:sp>
      <p:sp>
        <p:nvSpPr>
          <p:cNvPr id="395" name="Google Shape;395;g3fb43b71a88_5_1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b43b71a88_5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g3fb43b71a88_5_1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as duas faixas de memória — por linha e por coluna. EXPLICAR: "quando o objetivo é atender um pedido, faz sentido guardar tudo do pedido junto: cliente, data, valor, lado a lado. Você quer o pedido inteiro, numa leitura só."</a:t>
            </a:r>
            <a:br>
              <a:rPr lang="en-US"/>
            </a:br>
            <a:r>
              <a:rPr lang="en-US"/>
              <a:t>"Mas quando você quer somar o valor de dez milhões de pedidos, guardar assim é péssimo — pra pegar uma coluna, você passa por todas as outras trinta."</a:t>
            </a:r>
            <a:br>
              <a:rPr lang="en-US"/>
            </a:br>
            <a:r>
              <a:rPr lang="en-US"/>
              <a:t>Aponta a faixa de baixo: "existe o contrário: guardar todos os valores juntos. Aí somar uma coluna lê só aquela coluna. A diferença prática: ler um terabyte, ou ler trinta gigas, pra responder a mesma pergunta."</a:t>
            </a:r>
            <a:br>
              <a:rPr lang="en-US"/>
            </a:br>
            <a:r>
              <a:rPr lang="en-US"/>
              <a:t>Retorno do gancho de 🅐: "lembram da palavra 'coluna', quando a API devolveu aquelas listas separadas? É isso. Existe um formato de arquivo famoso que faz exatamente isso, chama Parquet."</a:t>
            </a:r>
            <a:br>
              <a:rPr lang="en-US"/>
            </a:br>
            <a:r>
              <a:rPr lang="en-US"/>
              <a:t>❓ "Devo usar Parquet sempre?" → "Não. Pra análise, sim. Pra um sistema que grava pedido a pedido, não — aí o formato por linha é melhor."</a:t>
            </a:r>
            <a:br>
              <a:rPr lang="en-US"/>
            </a:br>
            <a:r>
              <a:rPr lang="en-US"/>
              <a:t>2,5 min · 🅑 · [COMPL] (o nome é [PANDA] S2)</a:t>
            </a:r>
            <a:endParaRPr/>
          </a:p>
        </p:txBody>
      </p:sp>
      <p:sp>
        <p:nvSpPr>
          <p:cNvPr id="422" name="Google Shape;422;g3fb43b71a88_5_1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b43b71a88_5_1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g3fb43b71a88_5_1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 diagrama do PANDA ao lado do modelo real do projeto. EXPLICAR: "no mundo analítico as tabelas se organizam de um jeito bem específico. Tem uma tabela no meio, que guarda o que aconteceu — cada venda, cada medição. Ela cresce pra baixo, milhões de linhas."</a:t>
            </a:r>
            <a:br>
              <a:rPr lang="en-US"/>
            </a:br>
            <a:r>
              <a:rPr lang="en-US"/>
              <a:t>"Em volta dela ficam as tabelas de contexto: quem, o quê, onde, quando. Essas crescem pro lado, com muitas colunas descritivas. A do meio chama tabela fato. As de fora chamam dimensão."</a:t>
            </a:r>
            <a:br>
              <a:rPr lang="en-US"/>
            </a:br>
            <a:r>
              <a:rPr lang="en-US"/>
              <a:t>Aponta a legenda: "e repara que PK e FK, que apareceram lá no CREATE TABLE, são exatamente o que liga as duas."</a:t>
            </a:r>
            <a:br>
              <a:rPr lang="en-US"/>
            </a:br>
            <a:r>
              <a:rPr lang="en-US"/>
              <a:t>Fecha a contradição do S24: "é nas dimensões que a repetição acontece de propósito. Repetir 'eletrônicos' custa um pouco de disco, e evita juntar tabela em toda consulta. Disco é barato; tempo de espera de quem olha o relatório, não."</a:t>
            </a:r>
            <a:br>
              <a:rPr lang="en-US"/>
            </a:br>
            <a:r>
              <a:rPr lang="en-US"/>
              <a:t>Hierarquia (20s): "as dimensões costumam ter níveis dentro delas — dia, mês, trimestre, ano; ou produto, subcategoria, categoria. É isso que permite abrir o relatório por ano e depois por mês, sem mudar nada no modelo."</a:t>
            </a:r>
            <a:br>
              <a:rPr lang="en-US"/>
            </a:br>
            <a:r>
              <a:rPr lang="en-US"/>
              <a:t>Cuidado com o que se soma (vale o minuto): "nem toda coluna numérica pode ser somada, e a ferramenta de relatório vai somar todas por padrão. Valor de venda soma em qualquer direção — aditivo. Saldo de conta soma entre contas, mas não entre meses — semi-aditivo. Percentual de desconto não soma nunca — não-aditivo. O problema é que o número sai, parece certo, e está errado."</a:t>
            </a:r>
            <a:br>
              <a:rPr lang="en-US"/>
            </a:br>
            <a:r>
              <a:rPr lang="en-US"/>
              <a:t>❓ "Como eu sei em qual caso estou?" → "Pergunta se faz sentido somar ao longo do tempo. Se não fizer, é semi-aditivo ou não-aditivo."</a:t>
            </a:r>
            <a:br>
              <a:rPr lang="en-US"/>
            </a:br>
            <a:r>
              <a:rPr lang="en-US"/>
              <a:t>3,7 min · 🅑 · [PANDA] S4 (diagrama gerado pelo código do material)</a:t>
            </a:r>
            <a:endParaRPr/>
          </a:p>
        </p:txBody>
      </p:sp>
      <p:sp>
        <p:nvSpPr>
          <p:cNvPr id="440" name="Google Shape;440;g3fb43b71a88_5_1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b43b71a88_5_2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g3fb43b71a88_5_2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 schema.sql do projeto, com o comentário da granularidade destacado. EXPLICAR: "repara nesse comentário: 'uma linha é uma cidade, numa hora'. Isso é uma frase, não é código. E é a decisão mais importante do projeto inteiro."</a:t>
            </a:r>
            <a:br>
              <a:rPr lang="en-US"/>
            </a:br>
            <a:r>
              <a:rPr lang="en-US"/>
              <a:t>"Se ela tivesse sido 'uma cidade por dia', a pergunta 'que horas fez mais calor?' seria impossível de responder. E não teria volta, porque o detalhe não teria sido guardado."</a:t>
            </a:r>
            <a:br>
              <a:rPr lang="en-US"/>
            </a:br>
            <a:r>
              <a:rPr lang="en-US"/>
              <a:t>Aponta o UNIQUE: "e essa linha aqui é o que conserta aquela tabela que ficou com o dobro de linhas: com ela, a segunda gravação da mesma cidade na mesma hora é recusada pelo banco. Como isso se usa na prática vem depois do intervalo."</a:t>
            </a:r>
            <a:br>
              <a:rPr lang="en-US"/>
            </a:br>
            <a:r>
              <a:rPr lang="en-US"/>
              <a:t>1 min · 🅑 · projeto</a:t>
            </a:r>
            <a:endParaRPr/>
          </a:p>
        </p:txBody>
      </p:sp>
      <p:sp>
        <p:nvSpPr>
          <p:cNvPr id="467" name="Google Shape;467;g3fb43b71a88_5_2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b43b71a88_5_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g3fb43b71a88_5_2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 pedido #1001 nas duas granularidades. EXPLICAR: "um pedido com três itens. Dá pra guardar de dois jeitos: uma linha, compacto — pedido 1001, trezentos reais; ou três linhas, uma por item, ocupa mais."</a:t>
            </a:r>
            <a:br>
              <a:rPr lang="en-US"/>
            </a:br>
            <a:r>
              <a:rPr lang="en-US"/>
              <a:t>PERGUNTAR (Chat 4): "o que vocês perdem em cada escolha? Escreve no chat." Lê uma resposta e aponta as duas caixas da tela: "na primeira, você perde quais produtos foram vendidos — e não recupera nunca mais. Na segunda, você paga em linhas guardadas, e o total sai somando quando precisar."</a:t>
            </a:r>
            <a:br>
              <a:rPr lang="en-US"/>
            </a:br>
            <a:r>
              <a:rPr lang="en-US"/>
              <a:t>Explicar subir × descer com o diagrama de baixo: "juntar as três linhas num total é fácil, é o GROUP BY — isso chama agregar, ou subir de granularidade. O caminho contrário, sair do total e recuperar os três itens, simplesmente não existe."</a:t>
            </a:r>
            <a:br>
              <a:rPr lang="en-US"/>
            </a:br>
            <a:r>
              <a:rPr lang="en-US"/>
              <a:t>Regra prática: "na dúvida, guarde mais fino."</a:t>
            </a:r>
            <a:br>
              <a:rPr lang="en-US"/>
            </a:br>
            <a:r>
              <a:rPr lang="en-US"/>
              <a:t>2 min · 🅑 · [PANDA] S7</a:t>
            </a:r>
            <a:endParaRPr/>
          </a:p>
        </p:txBody>
      </p:sp>
      <p:sp>
        <p:nvSpPr>
          <p:cNvPr id="485" name="Google Shape;485;g3fb43b71a88_5_2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b43b71a88_5_2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g3fb43b71a88_5_2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EXPLICAR, como história: "uma cliente morava em São Paulo e comprou cinquenta mil reais ao longo do ano passado. Esse ano ela se mudou pra Minas. Você atualiza o cadastro, como qualquer sistema faria."</a:t>
            </a:r>
            <a:br>
              <a:rPr lang="en-US"/>
            </a:br>
            <a:r>
              <a:rPr lang="en-US"/>
              <a:t>MOSTRAR os dois relatórios: "o relatório de dezembro dizia que São Paulo faturou cinquenta mil. O mesmo relatório, do mesmo trimestre, gerado hoje, diz zero — e Minas passou a ter os cinquenta mil. As vendas gravadas são exatamente as mesmas."</a:t>
            </a:r>
            <a:br>
              <a:rPr lang="en-US"/>
            </a:br>
            <a:r>
              <a:rPr lang="en-US"/>
              <a:t>"Nenhuma venda mudou. O relatório mudou."</a:t>
            </a:r>
            <a:br>
              <a:rPr lang="en-US"/>
            </a:br>
            <a:r>
              <a:rPr lang="en-US"/>
              <a:t>LIGAR com o slide anterior: "e repara onde isso acontece: na dimensão. É a dim_cliente do modelo que a gente acabou de ver. Dimensão que muda com o tempo tem nome no mercado: SCD, slowly changing dimension."</a:t>
            </a:r>
            <a:br>
              <a:rPr lang="en-US"/>
            </a:br>
            <a:r>
              <a:rPr lang="en-US"/>
              <a:t>A solução: "guardar as duas versões: 'Ana, São Paulo, até março' e 'Ana, Minas, a partir de março'. Cada venda aponta pra versão que era verdade no dia. Isso é o Tipo 2."</a:t>
            </a:r>
            <a:br>
              <a:rPr lang="en-US"/>
            </a:br>
            <a:r>
              <a:rPr lang="en-US"/>
              <a:t>❓ "Isso não faz a tabela crescer muito?" → "Cresce, e por isso não se faz em toda dimensão. A pergunta que decide: eu preciso saber como o dado era no momento do evento, ou só o mais atual basta?"</a:t>
            </a:r>
            <a:br>
              <a:rPr lang="en-US"/>
            </a:br>
            <a:r>
              <a:rPr lang="en-US"/>
              <a:t>2 min · 🅑 · [PANDA] S7</a:t>
            </a:r>
            <a:endParaRPr/>
          </a:p>
        </p:txBody>
      </p:sp>
      <p:sp>
        <p:nvSpPr>
          <p:cNvPr id="505" name="Google Shape;505;g3fb43b71a88_5_2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fb43b71a88_5_2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g3fb43b71a88_5_2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EXPLICAR: "a palavra data warehouse já apareceu duas vezes hoje. Agora ela ganha vizinhos, porque são três lugares e os três aparecem em vaga."</a:t>
            </a:r>
            <a:br>
              <a:rPr lang="en-US"/>
            </a:br>
            <a:r>
              <a:rPr lang="en-US"/>
              <a:t>MOSTRAR os cartões, um por um:</a:t>
            </a:r>
            <a:br>
              <a:rPr lang="en-US"/>
            </a:br>
            <a:r>
              <a:rPr lang="en-US"/>
              <a:t>"O lugar organizado, com tabela pronta e estrutura definida, chama data warehouse."</a:t>
            </a:r>
            <a:br>
              <a:rPr lang="en-US"/>
            </a:br>
            <a:r>
              <a:rPr lang="en-US"/>
              <a:t>"O lugar que aceita qualquer arquivo do jeito que vier chama data lake."</a:t>
            </a:r>
            <a:br>
              <a:rPr lang="en-US"/>
            </a:br>
            <a:r>
              <a:rPr lang="en-US"/>
              <a:t>"A diferença entre eles não é preço — é quando a estrutura é exigida. No warehouse, você define a estrutura na hora de gravar: se o dado não encaixa, não entra. No lake, você grava do jeito que vier, e a estrutura só é aplicada quando alguém lê."</a:t>
            </a:r>
            <a:br>
              <a:rPr lang="en-US"/>
            </a:br>
            <a:r>
              <a:rPr lang="en-US"/>
              <a:t>"Os nomes em inglês, que é como vocês vão encontrar: schema-on-write e schema-on-read. O primeiro dá garantia, e dá trabalho. O segundo dá flexibilidade, e dá risco — se ninguém organizar, o lake vira o que o mercado chama de pântano de dados."</a:t>
            </a:r>
            <a:br>
              <a:rPr lang="en-US"/>
            </a:br>
            <a:r>
              <a:rPr lang="en-US"/>
              <a:t>"O terceiro é a tentativa de juntar os dois: guardar barato como no lake, com organização e garantia como no warehouse. Chama lakehouse, e é o mais novo dos três."</a:t>
            </a:r>
            <a:br>
              <a:rPr lang="en-US"/>
            </a:br>
            <a:r>
              <a:rPr lang="en-US"/>
              <a:t>As ferramentas, rápido, como ilustração: "BigQuery cobra por consulta processada. Snowflake popularizou separar armazenamento do motor. Redshift é o da Amazon. Databricks é o mais associado a lakehouse. Nenhum venceu — o warehouse ainda é maioria, o lakehouse já está em cerca de uma a cada quatro empresas."</a:t>
            </a:r>
            <a:br>
              <a:rPr lang="en-US"/>
            </a:br>
            <a:r>
              <a:rPr lang="en-US"/>
              <a:t>TRANSIÇÃO: "e aí vem a pergunta que todo mundo faz: qual é o caro e qual é o barato? A resposta é melhor do que parece."</a:t>
            </a:r>
            <a:br>
              <a:rPr lang="en-US"/>
            </a:br>
            <a:r>
              <a:rPr lang="en-US"/>
              <a:t>2 min · 🅑 · [MERC] + [PANDA] S4</a:t>
            </a:r>
            <a:endParaRPr/>
          </a:p>
        </p:txBody>
      </p:sp>
      <p:sp>
        <p:nvSpPr>
          <p:cNvPr id="525" name="Google Shape;525;g3fb43b71a88_5_2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fb43b71a88_5_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g3fb43b71a88_5_2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EXPLICAR: "vocês vão ouvir muito que guardar dado analítico é caro, e que existem lugares baratos e caros. Isso é meio verdade e meio confuso."</a:t>
            </a:r>
            <a:br>
              <a:rPr lang="en-US"/>
            </a:br>
            <a:r>
              <a:rPr lang="en-US"/>
              <a:t>MOSTRAR a tabela de preços: "vinte dólares, vinte e três, quarenta — praticamente iguais. Guardar o dado custa a mesma coisa em todo lugar."</a:t>
            </a:r>
            <a:br>
              <a:rPr lang="en-US"/>
            </a:br>
            <a:r>
              <a:rPr lang="en-US"/>
              <a:t>"O que muda é outra coisa. Nos sistemas mais caros, o preço embute o motor que faz as consultas — e esse motor fica ligado mesmo às três da manhã de domingo, quando ninguém consulta nada."</a:t>
            </a:r>
            <a:br>
              <a:rPr lang="en-US"/>
            </a:br>
            <a:r>
              <a:rPr lang="en-US"/>
              <a:t>"A ideia mais nova é separar: o dado fica parado num lugar barato, o motor liga só quando alguém pergunta. Dado parado paga disco. Dado consultado paga o motor, por minuto. É o que o lakehouse do slide anterior faz."</a:t>
            </a:r>
            <a:br>
              <a:rPr lang="en-US"/>
            </a:br>
            <a:r>
              <a:rPr lang="en-US"/>
              <a:t>A frase que resolve: "não é que um é caro e outro barato. É que um cobra por terabyte guardado e o outro cobra por terabyte usado."</a:t>
            </a:r>
            <a:br>
              <a:rPr lang="en-US"/>
            </a:br>
            <a:r>
              <a:rPr lang="en-US"/>
              <a:t>Uma frase sobre nuvem: "e quanto mais pronto o serviço vem, menos você administra e menos você controla — tem desde alugar só a máquina até contratar o sistema já funcionando."</a:t>
            </a:r>
            <a:br>
              <a:rPr lang="en-US"/>
            </a:br>
            <a:r>
              <a:rPr lang="en-US"/>
              <a:t>1,8 min · 🅑 · [MERC] — Alex Merced (TCO), Practical Data Community</a:t>
            </a:r>
            <a:endParaRPr/>
          </a:p>
        </p:txBody>
      </p:sp>
      <p:sp>
        <p:nvSpPr>
          <p:cNvPr id="543" name="Google Shape;543;g3fb43b71a88_5_2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fb43b71a88_5_3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g3fb43b71a88_5_3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a tabela gold_clima_diario real, com Brasília destacada. EXPLICAR: "lembram dos três estágios, lá no começo? O bruto, o limpo, e um terceiro que ficou faltando."</a:t>
            </a:r>
            <a:br>
              <a:rPr lang="en-US"/>
            </a:br>
            <a:r>
              <a:rPr lang="en-US"/>
              <a:t>"É esta tabela. Ela já tem a resposta calculada — mínima, máxima, média de cada capital por dia. Pronta pra virar gráfico."</a:t>
            </a:r>
            <a:br>
              <a:rPr lang="en-US"/>
            </a:br>
            <a:r>
              <a:rPr lang="en-US"/>
              <a:t>"No mercado esses três estágios têm nome: bronze, prata e ouro. A gente acabou de construir o ouro."</a:t>
            </a:r>
            <a:br>
              <a:rPr lang="en-US"/>
            </a:br>
            <a:r>
              <a:rPr lang="en-US"/>
              <a:t>MOSTRAR Vão #3 — três peças preenchidas.</a:t>
            </a:r>
            <a:br>
              <a:rPr lang="en-US"/>
            </a:br>
            <a:r>
              <a:rPr lang="en-US"/>
              <a:t>TRANSIÇÃO, a fala do intervalo: "então: o dado está bem guardado e bem organizado. Parece que acabou."</a:t>
            </a:r>
            <a:br>
              <a:rPr lang="en-US"/>
            </a:br>
            <a:r>
              <a:rPr lang="en-US"/>
              <a:t>"Só que tem uma pergunta que ninguém fez ainda: por que a gente acredita nesse número?"</a:t>
            </a:r>
            <a:br>
              <a:rPr lang="en-US"/>
            </a:br>
            <a:r>
              <a:rPr lang="en-US"/>
              <a:t>"Oito minutos de intervalo. Quando voltar, a gente responde essa — e também a de como isso tudo acontece às três da manhã, sem ninguém acordado."</a:t>
            </a:r>
            <a:br>
              <a:rPr lang="en-US"/>
            </a:br>
            <a:r>
              <a:rPr lang="en-US"/>
              <a:t>1 min · 🅑 · rodada real</a:t>
            </a:r>
            <a:endParaRPr/>
          </a:p>
        </p:txBody>
      </p:sp>
      <p:sp>
        <p:nvSpPr>
          <p:cNvPr id="582" name="Google Shape;582;g3fb43b71a88_5_3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fb44c5caf1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g3fb44c5caf1_1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DE INTERVALO — fica na tela sozinho durante os 8 minutos, sem ninguém falando por cima.</a:t>
            </a:r>
            <a:br>
              <a:rPr lang="en-US"/>
            </a:br>
            <a:r>
              <a:rPr lang="en-US"/>
              <a:t>Antes de deixar a tela neste slide, fechar a fala do S32: "Oito minutos de intervalo. Quando voltar, a gente responde essa — e também a de como isso tudo acontece às três da manhã, sem ninguém acordado."</a:t>
            </a:r>
            <a:br>
              <a:rPr lang="en-US"/>
            </a:br>
            <a:r>
              <a:rPr lang="en-US"/>
              <a:t>Durante o intervalo: nada a fazer aqui além de cronometrar por fora (o "08" é decorativo, não conta de verdade — combinar entre vocês quem fica de olho no relógio real).</a:t>
            </a:r>
            <a:br>
              <a:rPr lang="en-US"/>
            </a:br>
            <a:r>
              <a:rPr lang="en-US"/>
              <a:t>Ao voltar, troca de tela para o ato4.pptx (S33, "São 3 da manhã e o pipeline parou") — e troca de apresentador, conforme a divisão combinada.</a:t>
            </a:r>
            <a:br>
              <a:rPr lang="en-US"/>
            </a:br>
            <a:r>
              <a:rPr lang="en-US"/>
              <a:t>8 min · sem fala · slide novo</a:t>
            </a:r>
            <a:endParaRPr/>
          </a:p>
        </p:txBody>
      </p:sp>
      <p:sp>
        <p:nvSpPr>
          <p:cNvPr id="601" name="Google Shape;601;g3fb44c5caf1_1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fb43b71a88_18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g3fb43b71a88_18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Monta a cena devagar, sem slide técnico. EXPLICAR: "imagina o seguinte. São três da manhã. O relatório que a diretoria vê às oito depende desse pipeline. E ele parou."</a:t>
            </a:r>
            <a:br>
              <a:rPr lang="en-US"/>
            </a:br>
            <a:r>
              <a:rPr lang="en-US"/>
              <a:t>"Você acordou, abriu o computador, e tem trinta minutos."</a:t>
            </a:r>
            <a:br>
              <a:rPr lang="en-US"/>
            </a:br>
            <a:r>
              <a:rPr lang="en-US"/>
              <a:t>Aponta o terminal: "e o que você encontra é isso. Uma mensagem que não diz qual etapa quebrou, nem se o dado chegou a entrar, nem se dá pra rodar de novo sem estragar."</a:t>
            </a:r>
            <a:br>
              <a:rPr lang="en-US"/>
            </a:br>
            <a:r>
              <a:rPr lang="en-US"/>
              <a:t>PERGUNTAR (retórica, você mesmo responde): "a pergunta é: o que você precisa que o seu eu de ontem tenha deixado pronto?"</a:t>
            </a:r>
            <a:br>
              <a:rPr lang="en-US"/>
            </a:br>
            <a:r>
              <a:rPr lang="en-US"/>
              <a:t>"Tudo o que vem agora é resposta para essa pergunta."</a:t>
            </a:r>
            <a:br>
              <a:rPr lang="en-US"/>
            </a:br>
            <a:r>
              <a:rPr lang="en-US"/>
              <a:t>1,5 min · 🅐 · [COMPL]</a:t>
            </a:r>
            <a:endParaRPr/>
          </a:p>
        </p:txBody>
      </p:sp>
      <p:sp>
        <p:nvSpPr>
          <p:cNvPr id="617" name="Google Shape;617;g3fb43b71a88_18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fb43b71a88_18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g3fb43b71a88_18_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 script corrido ao lado das cinco funções nomeadas. EXPLICAR: "do lado esquerdo, tudo junto. Funciona. Roda igual."</a:t>
            </a:r>
            <a:br>
              <a:rPr lang="en-US"/>
            </a:br>
            <a:r>
              <a:rPr lang="en-US"/>
              <a:t>"Do lado direito, a mesma coisa, separada em cinco pedaços com nome. E não é questão de organização bonita."</a:t>
            </a:r>
            <a:br>
              <a:rPr lang="en-US"/>
            </a:br>
            <a:r>
              <a:rPr lang="en-US"/>
              <a:t>"No da esquerda você não consegue testar uma parte sozinha, não consegue trocar uma parte sem mexer no resto, e quando quebra você não sabe qual parte quebrou."</a:t>
            </a:r>
            <a:br>
              <a:rPr lang="en-US"/>
            </a:br>
            <a:r>
              <a:rPr lang="en-US"/>
              <a:t>Aponta os nomes: "esses cinco nomes são do pipeline de verdade do projeto. Guardem eles, porque eles voltam daqui a pouco — e aí a razão de existirem fica óbvia."</a:t>
            </a:r>
            <a:br>
              <a:rPr lang="en-US"/>
            </a:br>
            <a:r>
              <a:rPr lang="en-US"/>
              <a:t>1,5 min · 🅐 · [PANDA] S5 + projeto</a:t>
            </a:r>
            <a:endParaRPr/>
          </a:p>
        </p:txBody>
      </p:sp>
      <p:sp>
        <p:nvSpPr>
          <p:cNvPr id="633" name="Google Shape;633;g3fb43b71a88_18_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fb43b71a88_18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g3fb43b71a88_18_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as quatro coisas que dão errado com dado, cada uma com o exemplo real da tela: "falta o valor — a temperatura de Salvador veio vazia. O valor é do tipo certo mas é impossível — 87 graus em Manaus. O valor não é do tipo certo — a hora veio escrita 'ontem de tarde'. E o mesmo registro veio duas vezes."</a:t>
            </a:r>
            <a:br>
              <a:rPr lang="en-US"/>
            </a:br>
            <a:r>
              <a:rPr lang="en-US"/>
              <a:t>"E tem uma separação que parece detalhe e não é: uma coisa é descobrir o problema, outra é decidir o que fazer com ele."</a:t>
            </a:r>
            <a:br>
              <a:rPr lang="en-US"/>
            </a:br>
            <a:r>
              <a:rPr lang="en-US"/>
              <a:t>"Se as duas estiverem misturadas no mesmo código, ninguém consegue saber depois o que foi encontrado nem que decisão foi tomada."</a:t>
            </a:r>
            <a:br>
              <a:rPr lang="en-US"/>
            </a:br>
            <a:r>
              <a:rPr lang="en-US"/>
              <a:t>❓ "Quem define o que é impossível?" → "Uma pessoa. Está escrito no código: temperatura entre -15 e 55. O computador não sabe meteorologia — alguém decidiu a faixa."</a:t>
            </a:r>
            <a:br>
              <a:rPr lang="en-US"/>
            </a:br>
            <a:r>
              <a:rPr lang="en-US"/>
              <a:t>2 min · 🅐 · [PANDA] S5 + rodada real</a:t>
            </a:r>
            <a:endParaRPr/>
          </a:p>
        </p:txBody>
      </p:sp>
      <p:sp>
        <p:nvSpPr>
          <p:cNvPr id="651" name="Google Shape;651;g3fb43b71a88_18_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b43b71a88_18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g3fb43b71a88_18_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 log real. Lê as quatro linhas de WARNING em voz alta, uma por uma, ligando cada uma ao slide anterior:</a:t>
            </a:r>
            <a:br>
              <a:rPr lang="en-US"/>
            </a:br>
            <a:r>
              <a:rPr lang="en-US"/>
              <a:t>"'Ontem de tarde' — não é uma hora, é tipo errado. A leitura repetida do Rio — duplicado. Salvador com temperatura vazia — ausente. Manaus com 87 graus — impossível."</a:t>
            </a:r>
            <a:br>
              <a:rPr lang="en-US"/>
            </a:br>
            <a:r>
              <a:rPr lang="en-US"/>
              <a:t>"Cada uma dessas é um dos quatro tipos que a gente acabou de ver. E isso não é exemplo inventado: é a saída real de quando eu rodei esse projeto."</a:t>
            </a:r>
            <a:br>
              <a:rPr lang="en-US"/>
            </a:br>
            <a:r>
              <a:rPr lang="en-US"/>
              <a:t>A honestidade que sustenta o slide: "e eu preciso contar uma coisa: a gente estragou essas quatro leituras de propósito. A API de verdade não manda 87 graus. Sem estragar, não daria pra mostrar a validação trabalhando."</a:t>
            </a:r>
            <a:br>
              <a:rPr lang="en-US"/>
            </a:br>
            <a:r>
              <a:rPr lang="en-US"/>
              <a:t>Aponta as duas últimas linhas: "repara que ele também conta quantas passaram e quantas foram gravadas. Isso é o que te salva às três da manhã."</a:t>
            </a:r>
            <a:br>
              <a:rPr lang="en-US"/>
            </a:br>
            <a:r>
              <a:rPr lang="en-US"/>
              <a:t>❓ "Como o programa sabe que 87 graus é impossível?" → "Porque alguém escreveu essa regra: temperatura entre -15 e 55. Não é o computador sabendo meteorologia — é uma pessoa tendo decidido uma faixa."</a:t>
            </a:r>
            <a:br>
              <a:rPr lang="en-US"/>
            </a:br>
            <a:r>
              <a:rPr lang="en-US"/>
              <a:t>2,5 min · 🅐 · rodada real do projeto</a:t>
            </a:r>
            <a:endParaRPr/>
          </a:p>
        </p:txBody>
      </p:sp>
      <p:sp>
        <p:nvSpPr>
          <p:cNvPr id="669" name="Google Shape;669;g3fb43b71a88_18_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fb43b71a88_18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g3fb43b71a88_18_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 JSON real da quarentena, com o campo _erros destacado. EXPLICAR: "o que foi reprovado não foi apagado. Foi para uma pasta separada, e o motivo foi guardado dentro do próprio registro."</a:t>
            </a:r>
            <a:br>
              <a:rPr lang="en-US"/>
            </a:br>
            <a:r>
              <a:rPr lang="en-US"/>
              <a:t>"O motivo disso é estatístico. Se amanhã aparecerem 200 registros reprovados pela mesma regra, quase nunca são 200 dados ruins. É a sua regra que está errada, ou a fonte mudou. Quem apagou nunca vai descobrir qual dos dois."</a:t>
            </a:r>
            <a:br>
              <a:rPr lang="en-US"/>
            </a:br>
            <a:r>
              <a:rPr lang="en-US"/>
              <a:t>"E o registro do que aconteceu não fica só no terminal — vai para uma tabela no banco também. Porque terminal fecha."</a:t>
            </a:r>
            <a:br>
              <a:rPr lang="en-US"/>
            </a:br>
            <a:r>
              <a:rPr lang="en-US"/>
              <a:t>GOVERNANÇA — 40 s, e é o que mais separa projeto de estudo de projeto de empresa:</a:t>
            </a:r>
            <a:br>
              <a:rPr lang="en-US"/>
            </a:br>
            <a:r>
              <a:rPr lang="en-US"/>
              <a:t>"Só quem precisa acessa o dado. Cada pessoa recebe só a permissão que precisa. Fica registrado quem acessou o quê. Não se coleta dado que não vai ser usado. E dado pessoal é protegido."</a:t>
            </a:r>
            <a:br>
              <a:rPr lang="en-US"/>
            </a:br>
            <a:r>
              <a:rPr lang="en-US"/>
              <a:t>"E uma regra específica sobre log, fácil de errar: senha, token e dado pessoal nunca entram na mensagem de log. Log é o lugar que mais gente tem acesso, e o que menos gente lembra de proteger."</a:t>
            </a:r>
            <a:br>
              <a:rPr lang="en-US"/>
            </a:br>
            <a:r>
              <a:rPr lang="en-US"/>
              <a:t>2,2 min · 🅐 · rodada real + [COMPL]</a:t>
            </a:r>
            <a:endParaRPr/>
          </a:p>
        </p:txBody>
      </p:sp>
      <p:sp>
        <p:nvSpPr>
          <p:cNvPr id="687" name="Google Shape;687;g3fb43b71a88_18_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fb43b71a88_18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g3fb43b71a88_18_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rápido — o conceito já apareceu duas vezes hoje: "existem duas ordens possíveis. Ou você limpa o dado e depois guarda, ou guarda cru e limpa lá dentro."</a:t>
            </a:r>
            <a:br>
              <a:rPr lang="en-US"/>
            </a:br>
            <a:r>
              <a:rPr lang="en-US"/>
              <a:t>"A primeira é o que a gente fez, e é o certo aqui: o nosso banco é pequeno e não tem folga para transformar."</a:t>
            </a:r>
            <a:br>
              <a:rPr lang="en-US"/>
            </a:br>
            <a:r>
              <a:rPr lang="en-US"/>
              <a:t>"A segunda é o que a maior parte do mercado faz hoje, quando o destino é um banco de nuvem que aguenta o tranco. E também quando você ainda não sabe todas as perguntas que vai querer fazer."</a:t>
            </a:r>
            <a:br>
              <a:rPr lang="en-US"/>
            </a:br>
            <a:r>
              <a:rPr lang="en-US"/>
              <a:t>A frase do slide: "ETL não perdeu para ELT. ETL perdeu o monopólio."</a:t>
            </a:r>
            <a:br>
              <a:rPr lang="en-US"/>
            </a:br>
            <a:r>
              <a:rPr lang="en-US"/>
              <a:t>1 min · 🅐 · [PANDA] S5 + [MERC]</a:t>
            </a:r>
            <a:endParaRPr/>
          </a:p>
        </p:txBody>
      </p:sp>
      <p:sp>
        <p:nvSpPr>
          <p:cNvPr id="705" name="Google Shape;705;g3fb43b71a88_18_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fb43b71a88_18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2" name="Google Shape;722;g3fb43b71a88_18_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EXPLICAR: "esse nome aparece em vaga de emprego o tempo todo, então vale saber o que é. É uma ferramenta que organiza as transformações escritas em SQL, dentro do próprio banco. Você escreve uma consulta; ela transforma aquilo numa tabela."</a:t>
            </a:r>
            <a:br>
              <a:rPr lang="en-US"/>
            </a:br>
            <a:r>
              <a:rPr lang="en-US"/>
              <a:t>MOSTRAR o ref() e o grafo: "em vez de você escrever o nome da tabela anterior, você escreve essa marcação. Com isso, ela descobre sozinha quem depende de quem, e monta esse desenho. Ninguém desenhou aquilo."</a:t>
            </a:r>
            <a:br>
              <a:rPr lang="en-US"/>
            </a:br>
            <a:r>
              <a:rPr lang="en-US"/>
              <a:t>O CLIQUE — vale falar devagar: "esse desenho tem nome. É a mesma estrutura que vem no próximo bloco, com outro nome. Vocês vão reconhecer."</a:t>
            </a:r>
            <a:br>
              <a:rPr lang="en-US"/>
            </a:br>
            <a:r>
              <a:rPr lang="en-US"/>
              <a:t>O limite, pra ninguém se confundir: "ela não busca o dado e não carrega. Só transforma. Quem manda ela rodar normalmente é a ferramenta do próximo bloco."</a:t>
            </a:r>
            <a:br>
              <a:rPr lang="en-US"/>
            </a:br>
            <a:r>
              <a:rPr lang="en-US"/>
              <a:t>[MERC] dbt Labs + Fivetran concluíram fusão em 01/06/2026; dbt Core v2.0 com motor Fusion em Rust.</a:t>
            </a:r>
            <a:br>
              <a:rPr lang="en-US"/>
            </a:br>
            <a:r>
              <a:rPr lang="en-US"/>
              <a:t>❓ "Preciso saber dbt para vaga júnior?" → "Saber que existe e o que faz, sim. Dominar, não. O que você precisa dominar é SQL — e aí o dbt você aprende numa semana."</a:t>
            </a:r>
            <a:br>
              <a:rPr lang="en-US"/>
            </a:br>
            <a:r>
              <a:rPr lang="en-US"/>
              <a:t>3 min · 🅐 · [COMPL] + [MERC]</a:t>
            </a:r>
            <a:endParaRPr/>
          </a:p>
        </p:txBody>
      </p:sp>
      <p:sp>
        <p:nvSpPr>
          <p:cNvPr id="723" name="Google Shape;723;g3fb43b71a88_18_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fb43b71a88_18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g3fb43b71a88_18_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⚠️ Esta é a única ponte da apresentação que não pode ser corte seco.</a:t>
            </a:r>
            <a:br>
              <a:rPr lang="en-US"/>
            </a:br>
            <a:r>
              <a:rPr lang="en-US"/>
              <a:t>MOSTRAR as cinco funções reaparecendo, agora com setas entre elas.</a:t>
            </a:r>
            <a:br>
              <a:rPr lang="en-US"/>
            </a:br>
            <a:r>
              <a:rPr lang="en-US"/>
              <a:t>TRANSIÇÃO: "lembra que a gente quebrou o programa em cinco pedaços, e na hora isso pareceu burocracia?"</a:t>
            </a:r>
            <a:br>
              <a:rPr lang="en-US"/>
            </a:br>
            <a:r>
              <a:rPr lang="en-US"/>
              <a:t>Pausa curta. "Era para isto."</a:t>
            </a:r>
            <a:br>
              <a:rPr lang="en-US"/>
            </a:br>
            <a:r>
              <a:rPr lang="en-US"/>
              <a:t>1 min · 🅐 · [COMPL]</a:t>
            </a:r>
            <a:endParaRPr/>
          </a:p>
        </p:txBody>
      </p:sp>
      <p:sp>
        <p:nvSpPr>
          <p:cNvPr id="741" name="Google Shape;741;g3fb43b71a88_18_1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fb43b71a88_18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g3fb43b71a88_18_1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os seis sintomas, rápido, um por um: "alguém tem que rodar na mão; às vezes roda fora de ordem; o registro do que aconteceu está espalhado; dado duplica; ninguém sabe se rodou hoje; e quando falha ninguém sabe por quê."</a:t>
            </a:r>
            <a:br>
              <a:rPr lang="en-US"/>
            </a:br>
            <a:r>
              <a:rPr lang="en-US"/>
              <a:t>"Nada disso se resolve escrevendo o código melhor. É um problema de coordenação, não de programação."</a:t>
            </a:r>
            <a:br>
              <a:rPr lang="en-US"/>
            </a:br>
            <a:r>
              <a:rPr lang="en-US"/>
              <a:t>"Orquestrar é responder cinco perguntas: quando rodar, em que ordem, com quais dependências, como observar e como recuperar."</a:t>
            </a:r>
            <a:br>
              <a:rPr lang="en-US"/>
            </a:br>
            <a:r>
              <a:rPr lang="en-US"/>
              <a:t>1 min · 🅐 · [PANDA] S6</a:t>
            </a:r>
            <a:endParaRPr/>
          </a:p>
        </p:txBody>
      </p:sp>
      <p:sp>
        <p:nvSpPr>
          <p:cNvPr id="757" name="Google Shape;757;g3fb43b71a88_18_1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fb43b71a88_18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g3fb43b71a88_18_1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desmontando o nome, apontando os três desenhos: "dirigido — as setas têm sentido: essa tarefa só começa depois daquela. Acíclico — não pode ter volta. Grafo — pode ramificar, pode juntar, não precisa ser uma fila."</a:t>
            </a:r>
            <a:br>
              <a:rPr lang="en-US"/>
            </a:br>
            <a:r>
              <a:rPr lang="en-US"/>
              <a:t>Sobre o acíclico, a explicação mecânica: "por que não pode ter volta? Porque o programa que coordena isso decide o que rodar perguntando: quem já tem tudo que precisava pronto? Se a A depende da B e a B depende da A, a resposta é 'ninguém'. Para sempre. Trava."</a:t>
            </a:r>
            <a:br>
              <a:rPr lang="en-US"/>
            </a:br>
            <a:r>
              <a:rPr lang="en-US"/>
              <a:t>As três peças, nomeadas — os termos aparecem em toda documentação: "o fluxo inteiro é a DAG. Cada etapa dentro dele é uma tarefa. E o que define o tipo de trabalho chama operador — tem operador pra rodar Python, pra rodar comando no terminal, pra executar consulta no banco. A gente usou o de Python nas cinco."</a:t>
            </a:r>
            <a:br>
              <a:rPr lang="en-US"/>
            </a:br>
            <a:r>
              <a:rPr lang="en-US"/>
              <a:t>❓ "DAG é a mesma coisa que o desenho do dbt?" → "É exatamente a mesma ideia. Lá entre tabelas, aqui entre tarefas. Por isso eu pedi pra vocês repararem."</a:t>
            </a:r>
            <a:br>
              <a:rPr lang="en-US"/>
            </a:br>
            <a:r>
              <a:rPr lang="en-US"/>
              <a:t>1,9 min · 🅐 · [PANDA] S6 + [COMPL]</a:t>
            </a:r>
            <a:endParaRPr/>
          </a:p>
        </p:txBody>
      </p:sp>
      <p:sp>
        <p:nvSpPr>
          <p:cNvPr id="799" name="Google Shape;799;g3fb43b71a88_18_1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fb43b71a88_18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6" name="Google Shape;816;g3fb43b71a88_18_1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 dag.py inteiro. EXPLICAR: "esse é o arquivo inteiro. Vinte linhas."</a:t>
            </a:r>
            <a:br>
              <a:rPr lang="en-US"/>
            </a:br>
            <a:r>
              <a:rPr lang="en-US"/>
              <a:t>"E repara no que não tem aqui: não tem nenhuma lógica. Não tem busca de dado, não tem validação, não tem carga."</a:t>
            </a:r>
            <a:br>
              <a:rPr lang="en-US"/>
            </a:br>
            <a:r>
              <a:rPr lang="en-US"/>
              <a:t>Aponta o import: "ele pega as funções que já existiam." Aponta o &gt;&gt;: "e só diz a ordem. Esse sinal quer dizer 'depois de'."</a:t>
            </a:r>
            <a:br>
              <a:rPr lang="en-US"/>
            </a:br>
            <a:r>
              <a:rPr lang="en-US"/>
              <a:t>"É por isso que a parte anterior veio antes desta. Não dá para coordenar pedaços que não existem."</a:t>
            </a:r>
            <a:br>
              <a:rPr lang="en-US"/>
            </a:br>
            <a:r>
              <a:rPr lang="en-US"/>
              <a:t>Aponta as duas linhas roxas: "e essas duas configurações aqui a gente vai ver daqui a dois slides — elas evitam dois problemas bem específicos."</a:t>
            </a:r>
            <a:br>
              <a:rPr lang="en-US"/>
            </a:br>
            <a:r>
              <a:rPr lang="en-US"/>
              <a:t>1,5 min · 🅐 · projeto</a:t>
            </a:r>
            <a:endParaRPr/>
          </a:p>
        </p:txBody>
      </p:sp>
      <p:sp>
        <p:nvSpPr>
          <p:cNvPr id="817" name="Google Shape;817;g3fb43b71a88_18_1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fb43b71a88_18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g3fb43b71a88_18_2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a tela. EXPLICAR: "isso aqui é a tela dessa ferramenta. Cada caixa é uma das etapas, e a seta é a dependência."</a:t>
            </a:r>
            <a:br>
              <a:rPr lang="en-US"/>
            </a:br>
            <a:r>
              <a:rPr lang="en-US"/>
              <a:t>Aponta o Grid: "e aqui do lado é o histórico. Cada coluninha é uma execução. Verde deu certo, vermelho falhou, cinza é a que nem chegou a rodar porque a anterior falhou."</a:t>
            </a:r>
            <a:br>
              <a:rPr lang="en-US"/>
            </a:br>
            <a:r>
              <a:rPr lang="en-US"/>
              <a:t>O ponto honesto, que vale mais que o verde: "repara que tem vermelho no começo. Isso é a depuração real de quem montou — não deu certo de primeira. Nunca dá."</a:t>
            </a:r>
            <a:br>
              <a:rPr lang="en-US"/>
            </a:br>
            <a:r>
              <a:rPr lang="en-US"/>
              <a:t>Aponta a legenda: "e esses estados têm nome, vocês vão ver na tela: agendada, rodando, sucesso, falhou, esperando nova tentativa. O mais útil pra diagnosticar é o 'bloqueada pela anterior' — ele te diz onde procurar."</a:t>
            </a:r>
            <a:br>
              <a:rPr lang="en-US"/>
            </a:br>
            <a:r>
              <a:rPr lang="en-US"/>
              <a:t>❓ "Isso é pago?" → "Não, é livre e gratuito. Roda na sua máquina. O que se paga, quando se paga, é para alguém hospedar por você."</a:t>
            </a:r>
            <a:br>
              <a:rPr lang="en-US"/>
            </a:br>
            <a:r>
              <a:rPr lang="en-US"/>
              <a:t>2 min · 🅐 · projeto</a:t>
            </a:r>
            <a:endParaRPr/>
          </a:p>
        </p:txBody>
      </p:sp>
      <p:sp>
        <p:nvSpPr>
          <p:cNvPr id="835" name="Google Shape;835;g3fb43b71a88_18_2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fb43b71a88_18_2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4" name="Google Shape;854;g3fb43b71a88_18_2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PERGUNTAR — Chat 6: "eu configurei essa coisa pra rodar uma vez por dia, e coloquei como data de início o dia primeiro de janeiro. Hoje é setembro. Quando eu ligar, quantas vezes vocês acham que ela vai rodar?"</a:t>
            </a:r>
            <a:br>
              <a:rPr lang="en-US"/>
            </a:br>
            <a:r>
              <a:rPr lang="en-US"/>
              <a:t>Lê duas respostas. Revela: "duzentas e cinquenta e cinco. Ela entende que está devendo todos os dias desde janeiro, e tenta rodar todos."</a:t>
            </a:r>
            <a:br>
              <a:rPr lang="en-US"/>
            </a:br>
            <a:r>
              <a:rPr lang="en-US"/>
              <a:t>"É uma das formas mais rápidas de ser bloqueado por uma API pública. Essa configuração chama catchup, e desligar ela é uma linha."</a:t>
            </a:r>
            <a:br>
              <a:rPr lang="en-US"/>
            </a:br>
            <a:r>
              <a:rPr lang="en-US"/>
              <a:t>O agendamento em si — a pegadinha que vem junto: "quando você diz 'roda uma vez por dia', não quer dizer 'roda agora, todo dia'. Quer dizer: existe um intervalo de um dia, e no fim de cada intervalo ele executa. A execução do dia 10 roda na virada pro dia 11 — porque só aí o dia 10 acabou. Faz sentido quando você pensa em dado, e não faz nenhum quando você espera um despertador."</a:t>
            </a:r>
            <a:br>
              <a:rPr lang="en-US"/>
            </a:br>
            <a:r>
              <a:rPr lang="en-US"/>
              <a:t>Sobre retry: "e tem o contrário também: quando falha, ela tenta de novo sozinha. Isso resolve internet oscilando. Não resolve erro no código — se o código está errado, tentar três vezes dá três erros iguais."</a:t>
            </a:r>
            <a:br>
              <a:rPr lang="en-US"/>
            </a:br>
            <a:r>
              <a:rPr lang="en-US"/>
              <a:t>2,3 min · 🅐 · [PANDA] S6</a:t>
            </a:r>
            <a:endParaRPr/>
          </a:p>
        </p:txBody>
      </p:sp>
      <p:sp>
        <p:nvSpPr>
          <p:cNvPr id="855" name="Google Shape;855;g3fb43b71a88_18_2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fb43b71a88_18_2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0" name="Google Shape;870;g3fb43b71a88_18_2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os dois terminais lado a lado. EXPLICAR: "lembram da cena de antes do intervalo? Rodou duas vezes, e a tabela ficou com o dobro."</a:t>
            </a:r>
            <a:br>
              <a:rPr lang="en-US"/>
            </a:br>
            <a:r>
              <a:rPr lang="en-US"/>
              <a:t>"Agora olha a mesma coisa, com o projeto terminado. Rodei duas vezes: 381 na primeira, 381 na segunda. E a tabela continua com 381. Não duplicou."</a:t>
            </a:r>
            <a:br>
              <a:rPr lang="en-US"/>
            </a:br>
            <a:r>
              <a:rPr lang="en-US"/>
              <a:t>Aponta a linha do ON CONFLICT: "o que mudou foi isso aqui. Em vez de sempre inserir, ele diz: se já existe uma leitura dessa cidade nessa hora, atualiza em vez de criar outra."</a:t>
            </a:r>
            <a:br>
              <a:rPr lang="en-US"/>
            </a:br>
            <a:r>
              <a:rPr lang="en-US"/>
              <a:t>NOMEIA SÓ AGORA: "rodar de novo sem estragar nada tem nome: idempotência. E é isso que torna seguro tentar de novo, e reprocessar."</a:t>
            </a:r>
            <a:br>
              <a:rPr lang="en-US"/>
            </a:br>
            <a:r>
              <a:rPr lang="en-US"/>
              <a:t>A honestidade, que vale: "e eu preciso dizer uma coisa: isso não estava no nosso material. A gente não aprendeu isso em aula. A gente aprendeu construindo, rodando duas vezes e vendo o dado duplicar."</a:t>
            </a:r>
            <a:br>
              <a:rPr lang="en-US"/>
            </a:br>
            <a:r>
              <a:rPr lang="en-US"/>
              <a:t>1,5 min · 🅐 · [COMPL] + rodada real</a:t>
            </a:r>
            <a:endParaRPr/>
          </a:p>
        </p:txBody>
      </p:sp>
      <p:sp>
        <p:nvSpPr>
          <p:cNvPr id="871" name="Google Shape;871;g3fb43b71a88_18_2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fb43b71a88_18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g3fb43b71a88_18_2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EXPLICAR: "essa ferramenta não é um programa só. São quatro coisas que precisam estar de pé ao mesmo tempo: a interface web, que é a tela que vocês acabaram de ver; o programa que fica olhando o relógio e disparando as tarefas; um banco só pra guardar o histórico — e repara: não é o banco do seu projeto, é um separado; e as bibliotecas que o seu código precisa."</a:t>
            </a:r>
            <a:br>
              <a:rPr lang="en-US"/>
            </a:br>
            <a:r>
              <a:rPr lang="en-US"/>
              <a:t>"Fazer essas quatro conversarem na sua máquina é chato. Por isso se usa container — uma forma de empacotar cada uma com as versões certas e subir tudo junto com um comando."</a:t>
            </a:r>
            <a:br>
              <a:rPr lang="en-US"/>
            </a:br>
            <a:r>
              <a:rPr lang="en-US"/>
              <a:t>"E 'na minha máquina funciona' é literalmente o problema que isso resolve. As pastas do projeto ficam ligadas pra dentro do container, então você edita o código aqui fora e ele roda lá dentro."</a:t>
            </a:r>
            <a:br>
              <a:rPr lang="en-US"/>
            </a:br>
            <a:r>
              <a:rPr lang="en-US"/>
              <a:t>MOSTRAR o erro real: "olha um problema que um dos projetos do grupo documentou: o container não enxerga o 'localhost' da sua própria máquina. Isso não está em tutorial nenhum. Só aparece quando você monta de verdade."</a:t>
            </a:r>
            <a:br>
              <a:rPr lang="en-US"/>
            </a:br>
            <a:r>
              <a:rPr lang="en-US"/>
              <a:t>[MERC]: "somando tudo, essa ferramenta está em quase metade das empresas. Mas o número mais interessante é outro — uma em cada cinco não usa coordenação nenhuma. Ainda roda na mão."</a:t>
            </a:r>
            <a:br>
              <a:rPr lang="en-US"/>
            </a:br>
            <a:r>
              <a:rPr lang="en-US"/>
              <a:t>TRANSIÇÃO (passa para a 🅑): "cada uma dessas peças a gente viu separada. Agora: oito pessoas pegaram todas elas ao mesmo tempo e construíram uma coisa só."</a:t>
            </a:r>
            <a:br>
              <a:rPr lang="en-US"/>
            </a:br>
            <a:r>
              <a:rPr lang="en-US"/>
              <a:t>2,5 min · 🅐 · [PANDA] S6 + projeto do grupo + [MERC] · SAI 🅐, ENTRA 🅑 (01:30)</a:t>
            </a:r>
            <a:endParaRPr/>
          </a:p>
        </p:txBody>
      </p:sp>
      <p:sp>
        <p:nvSpPr>
          <p:cNvPr id="889" name="Google Shape;889;g3fb43b71a88_18_2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fb43b71a88_2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6" name="Google Shape;906;g3fb43b71a88_20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TRANSIÇÃO — recebe a ponte: "...oito pessoas pegaram todas as peças ao mesmo tempo."</a:t>
            </a:r>
            <a:br>
              <a:rPr lang="en-US"/>
            </a:br>
            <a:r>
              <a:rPr lang="en-US"/>
              <a:t>"Nas últimas três semanas do grupo, cada pessoa montou um pipeline do zero, sozinha, com uma fonte de dado escolhida por ela."</a:t>
            </a:r>
            <a:br>
              <a:rPr lang="en-US"/>
            </a:br>
            <a:r>
              <a:rPr lang="en-US"/>
              <a:t>"E olha como cada semana virou um pedaço: o que a gente viu na primeira virou a parte de limpeza. A segunda virou a busca na API. A terceira virou o banco. E assim por diante."</a:t>
            </a:r>
            <a:br>
              <a:rPr lang="en-US"/>
            </a:br>
            <a:r>
              <a:rPr lang="en-US"/>
              <a:t>"O que foi pedido: uma API, um pipeline organizado, banco PostgreSQL, coordenação com Airflow, tratamento de erro, e documentação."</a:t>
            </a:r>
            <a:br>
              <a:rPr lang="en-US"/>
            </a:br>
            <a:r>
              <a:rPr lang="en-US"/>
              <a:t>"E tinha uma orientação explícita: um pipeline pequeno, organizado e documentado vale mais que uma solução grande e difícil de reproduzir."</a:t>
            </a:r>
            <a:br>
              <a:rPr lang="en-US"/>
            </a:br>
            <a:r>
              <a:rPr lang="en-US"/>
              <a:t>1,5 min · 🅑 · [PANDA] tabela do exemplo_aplicado_projeto_final.md</a:t>
            </a:r>
            <a:endParaRPr/>
          </a:p>
        </p:txBody>
      </p:sp>
      <p:sp>
        <p:nvSpPr>
          <p:cNvPr id="907" name="Google Shape;907;g3fb43b71a88_20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fb43b71a88_2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2" name="Google Shape;922;g3fb43b71a88_20_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Passe rápido, uma frase por projeto, no ritmo de quem apresenta pessoas, não código:</a:t>
            </a:r>
            <a:br>
              <a:rPr lang="en-US"/>
            </a:br>
            <a:r>
              <a:rPr lang="en-US"/>
              <a:t>"Clima das capitais, com as cidades ligadas e desligadas por um arquivo de configuração — dá para incluir uma capital nova sem tocar no código."</a:t>
            </a:r>
            <a:br>
              <a:rPr lang="en-US"/>
            </a:br>
            <a:r>
              <a:rPr lang="en-US"/>
              <a:t>"Ônibus de São Paulo, em tempo real, e o único do grupo que construiu um painel com mapa."</a:t>
            </a:r>
            <a:br>
              <a:rPr lang="en-US"/>
            </a:br>
            <a:r>
              <a:rPr lang="en-US"/>
              <a:t>"Cotação de moedas — Câmbio em Dia — e o melhor documento de arquitetura do grupo, que ligou cada semana a um componente."</a:t>
            </a:r>
            <a:br>
              <a:rPr lang="en-US"/>
            </a:br>
            <a:r>
              <a:rPr lang="en-US"/>
              <a:t>"Biodiversidade, com um módulo só para qualidade de dado."</a:t>
            </a:r>
            <a:br>
              <a:rPr lang="en-US"/>
            </a:br>
            <a:r>
              <a:rPr lang="en-US"/>
              <a:t>"Pokémon, com a região escolhida na hora de disparar o processo."</a:t>
            </a:r>
            <a:br>
              <a:rPr lang="en-US"/>
            </a:br>
            <a:r>
              <a:rPr lang="en-US"/>
              <a:t>"Clima de novo, mas de hora em hora, e com testes automatizados."</a:t>
            </a:r>
            <a:br>
              <a:rPr lang="en-US"/>
            </a:br>
            <a:r>
              <a:rPr lang="en-US"/>
              <a:t>"Dados do Pix do Banco Central, com cinco fontes diferentes num processo só."</a:t>
            </a:r>
            <a:br>
              <a:rPr lang="en-US"/>
            </a:br>
            <a:r>
              <a:rPr lang="en-US"/>
              <a:t>"Vagas de tecnologia, com uma área de quarentena para os registros que não passam na validação."</a:t>
            </a:r>
            <a:br>
              <a:rPr lang="en-US"/>
            </a:br>
            <a:r>
              <a:rPr lang="en-US"/>
              <a:t>O FECHO — absorve o "o que emergiu" aqui, é o ponto alto do slide:</a:t>
            </a:r>
            <a:br>
              <a:rPr lang="en-US"/>
            </a:br>
            <a:r>
              <a:rPr lang="en-US"/>
              <a:t>"E tem um padrão que apareceu sozinho. Seis dos oito acrescentaram uma etapa de validação que o exemplo da aula não tinha."</a:t>
            </a:r>
            <a:br>
              <a:rPr lang="en-US"/>
            </a:br>
            <a:r>
              <a:rPr lang="en-US"/>
              <a:t>"E três chegaram sozinhos naquela coisa da idempotência, que vocês acabaram de ver. Ninguém combinou. Os três chegaram lá porque rodaram duas vezes e viram o dado duplicar."</a:t>
            </a:r>
            <a:br>
              <a:rPr lang="en-US"/>
            </a:br>
            <a:r>
              <a:rPr lang="en-US"/>
              <a:t>"Isso não estava no material. É assim que boa parte da engenharia é aprendida de verdade."</a:t>
            </a:r>
            <a:br>
              <a:rPr lang="en-US"/>
            </a:br>
            <a:r>
              <a:rPr lang="en-US"/>
              <a:t>❓ "Dá para ver esses projetos?" → "Dá, estão todos públicos no GitHub. O link está no último slide."</a:t>
            </a:r>
            <a:br>
              <a:rPr lang="en-US"/>
            </a:br>
            <a:r>
              <a:rPr lang="en-US"/>
              <a:t>4 min · 🅑 · repositórios do grupo</a:t>
            </a:r>
            <a:endParaRPr/>
          </a:p>
        </p:txBody>
      </p:sp>
      <p:sp>
        <p:nvSpPr>
          <p:cNvPr id="923" name="Google Shape;923;g3fb43b71a88_20_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fb43b71a88_2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6" name="Google Shape;936;g3fb43b71a88_20_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"Esse gráfico saiu da mesma tabela que a gente montou antes do intervalo. É a rodada real do dia 12 de setembro."</a:t>
            </a:r>
            <a:br>
              <a:rPr lang="en-US"/>
            </a:br>
            <a:r>
              <a:rPr lang="en-US"/>
              <a:t>"Recife foi a que mais variou no dia: de vinte e dois a trinta e dois, quase dez graus. São Paulo foi a que menos variou: de quatorze a vinte e dois, oito graus e meio."</a:t>
            </a:r>
            <a:br>
              <a:rPr lang="en-US"/>
            </a:br>
            <a:r>
              <a:rPr lang="en-US"/>
              <a:t>"Repara que a diferença entre a maior e a menor amplitude do dia é pequena — menos de um grau e meio. Isso também é um resultado real: com só alguns dias de coleta, as capitais nesse recorte não tiveram um contraste dramático. E tudo bem — o ponto não é o número ser impressionante, é ele ser verdadeiro."</a:t>
            </a:r>
            <a:br>
              <a:rPr lang="en-US"/>
            </a:br>
            <a:r>
              <a:rPr lang="en-US"/>
              <a:t>O FECHO DO CICLO: "Tudo o que a gente viu nas últimas duas horas foi encanamento. Isso aqui é a torneira."</a:t>
            </a:r>
            <a:br>
              <a:rPr lang="en-US"/>
            </a:br>
            <a:r>
              <a:rPr lang="en-US"/>
              <a:t>"E repara: a torneira é a única parte que a pessoa que usa vê. E ela só existe porque todo o resto funciona."</a:t>
            </a:r>
            <a:br>
              <a:rPr lang="en-US"/>
            </a:br>
            <a:r>
              <a:rPr lang="en-US"/>
              <a:t>"Um dos projetos foi até esse ponto e construiu um painel com mapa em tempo real. Os outros sete pararam no banco — que é onde a maioria dos projetos para, inclusive em empresa."</a:t>
            </a:r>
            <a:br>
              <a:rPr lang="en-US"/>
            </a:br>
            <a:r>
              <a:rPr lang="en-US"/>
              <a:t>1,5 min · 🅑 · rodada real (gold_clima_diario, 12/09)</a:t>
            </a:r>
            <a:endParaRPr/>
          </a:p>
        </p:txBody>
      </p:sp>
      <p:sp>
        <p:nvSpPr>
          <p:cNvPr id="937" name="Google Shape;937;g3fb43b71a88_20_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fb43b71a88_2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4" name="Google Shape;954;g3fb43b71a88_20_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⏱️ Deixa no ar em silêncio por uns 8 a 10 segundos antes de falar qualquer coisa. É a segunda e última pausa longa da apresentação — funciona porque a plateia reconhece a imagem do começo.</a:t>
            </a:r>
            <a:br>
              <a:rPr lang="en-US"/>
            </a:br>
            <a:r>
              <a:rPr lang="en-US"/>
              <a:t>"Essa é a mesma tela do começo. Só que agora o meio está preenchido."</a:t>
            </a:r>
            <a:br>
              <a:rPr lang="en-US"/>
            </a:br>
            <a:r>
              <a:rPr lang="en-US"/>
              <a:t>1 min · 🅑 · [COMPL]</a:t>
            </a:r>
            <a:endParaRPr/>
          </a:p>
        </p:txBody>
      </p:sp>
      <p:sp>
        <p:nvSpPr>
          <p:cNvPr id="955" name="Google Shape;955;g3fb43b71a88_20_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fb43b71a88_2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" name="Google Shape;966;g3fb43b71a88_20_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Lê devagar, apontando cada trecho:</a:t>
            </a:r>
            <a:br>
              <a:rPr lang="en-US"/>
            </a:br>
            <a:r>
              <a:rPr lang="en-US"/>
              <a:t>"O dado certo chegue — foi a parte da API. Ao lugar certo — foi o banco. No formato certo — foi a modelagem. Com a qualidade certa — foi a validação. Na hora certa, sem alguém apertar um botão — foi a coordenação."</a:t>
            </a:r>
            <a:br>
              <a:rPr lang="en-US"/>
            </a:br>
            <a:r>
              <a:rPr lang="en-US"/>
              <a:t>"Foi isso que a gente fez hoje."</a:t>
            </a:r>
            <a:br>
              <a:rPr lang="en-US"/>
            </a:br>
            <a:r>
              <a:rPr lang="en-US"/>
              <a:t>1 min · 🅑 · [COMPL]</a:t>
            </a:r>
            <a:endParaRPr/>
          </a:p>
        </p:txBody>
      </p:sp>
      <p:sp>
        <p:nvSpPr>
          <p:cNvPr id="967" name="Google Shape;967;g3fb43b71a88_20_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fb43b71a88_2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" name="Google Shape;980;g3fb43b71a88_20_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"E tem bastante coisa que a gente não cobriu. Não porque não seja importante — é que não cabe em duas horas."</a:t>
            </a:r>
            <a:br>
              <a:rPr lang="en-US"/>
            </a:br>
            <a:r>
              <a:rPr lang="en-US"/>
              <a:t>Cita três ou quatro, sem detalhar: painel, testes automatizados, alerta quando falha, e dado em tempo real.</a:t>
            </a:r>
            <a:br>
              <a:rPr lang="en-US"/>
            </a:br>
            <a:r>
              <a:rPr lang="en-US"/>
              <a:t>A FRASE QUE DESARMA A PLATEIA INICIANTE — não pula esta:</a:t>
            </a:r>
            <a:br>
              <a:rPr lang="en-US"/>
            </a:br>
            <a:r>
              <a:rPr lang="en-US"/>
              <a:t>"E eu quero dizer uma coisa, porque essa lista assusta: ninguém sabe tudo isso. Uma vaga de júnior normalmente pede Python, SQL, um banco relacional e noção de pipeline. Que é exatamente o que a gente viu hoje."</a:t>
            </a:r>
            <a:br>
              <a:rPr lang="en-US"/>
            </a:br>
            <a:r>
              <a:rPr lang="en-US"/>
              <a:t>"O resto é o mapa de para onde continuar, na ordem que fizer sentido para você."</a:t>
            </a:r>
            <a:br>
              <a:rPr lang="en-US"/>
            </a:br>
            <a:r>
              <a:rPr lang="en-US"/>
              <a:t>1,5 min · 🅑 · [COMPL] + [MERC]</a:t>
            </a:r>
            <a:endParaRPr/>
          </a:p>
        </p:txBody>
      </p:sp>
      <p:sp>
        <p:nvSpPr>
          <p:cNvPr id="981" name="Google Shape;981;g3fb43b71a88_20_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fb43b71a88_2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4" name="Google Shape;994;g3fb43b71a88_20_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"Uma última coisa, que é de justiça."</a:t>
            </a:r>
            <a:br>
              <a:rPr lang="en-US"/>
            </a:br>
            <a:r>
              <a:rPr lang="en-US"/>
              <a:t>"Essa apresentação não é um resumo do material do grupo. Ela parte dele, e completa em alguns pontos."</a:t>
            </a:r>
            <a:br>
              <a:rPr lang="en-US"/>
            </a:br>
            <a:r>
              <a:rPr lang="en-US"/>
              <a:t>"Parte do que vocês ouviram hoje — idempotência, os custos de nuvem, o dbt — não estava nas nossas dez semanas. A gente acrescentou porque achou que fazia falta."</a:t>
            </a:r>
            <a:br>
              <a:rPr lang="en-US"/>
            </a:br>
            <a:r>
              <a:rPr lang="en-US"/>
              <a:t>"O material original, com tudo que foi estudado, está no repositório. E os oito projetos também."</a:t>
            </a:r>
            <a:br>
              <a:rPr lang="en-US"/>
            </a:br>
            <a:r>
              <a:rPr lang="en-US"/>
              <a:t>0,5 min · 🅑 · slide novo — crédito e honestidade sobre a origem do conteúdo</a:t>
            </a:r>
            <a:endParaRPr/>
          </a:p>
        </p:txBody>
      </p:sp>
      <p:sp>
        <p:nvSpPr>
          <p:cNvPr id="995" name="Google Shape;995;g3fb43b71a88_20_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fb43b71a88_2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" name="Google Shape;1013;g3fb43b71a88_20_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"Para terminar, um desafio em vez de um obrigado."</a:t>
            </a:r>
            <a:br>
              <a:rPr lang="en-US"/>
            </a:br>
            <a:r>
              <a:rPr lang="en-US"/>
              <a:t>"Uma rede com quarenta lojas quer um painel diário. Os dados vêm de três lugares: o sistema das lojas, uma planilha preenchida à mão, e uma API de entrega que corrige o passado."</a:t>
            </a:r>
            <a:br>
              <a:rPr lang="en-US"/>
            </a:br>
            <a:r>
              <a:rPr lang="en-US"/>
              <a:t>"São cinco perguntas. A quinta é a mais difícil. E se você chegou na palavra 'idempotência', você entendeu a aula."</a:t>
            </a:r>
            <a:br>
              <a:rPr lang="en-US"/>
            </a:br>
            <a:r>
              <a:rPr lang="en-US"/>
              <a:t>"Quem quiser tentar, a gente responde. Os projetos e o material estão nesse link."</a:t>
            </a:r>
            <a:br>
              <a:rPr lang="en-US"/>
            </a:br>
            <a:r>
              <a:rPr lang="en-US"/>
              <a:t>0,5 min · 🅑 · [COMPL] · case "Rede Aurora" — material de apoio completo em CASE-processo-seletivo-com-gabarito.md</a:t>
            </a:r>
            <a:endParaRPr/>
          </a:p>
        </p:txBody>
      </p:sp>
      <p:sp>
        <p:nvSpPr>
          <p:cNvPr id="1014" name="Google Shape;1014;g3fb43b71a88_20_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fb44c5caf1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6" name="Google Shape;1046;g3fb44c5caf1_4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SÓ USAR SE HOUVER TEMPO OU SE ALGUÉM PEDIR — não é obrigatório passar por aqui; o S55 já fecha a aula como desafio em aberto.</a:t>
            </a:r>
            <a:br>
              <a:rPr lang="en-US"/>
            </a:br>
            <a:r>
              <a:rPr lang="en-US"/>
              <a:t>"Não tem resposta única aqui — é só um caminho que funciona. O raciocínio importa mais que este desenho específico."</a:t>
            </a:r>
            <a:br>
              <a:rPr lang="en-US"/>
            </a:br>
            <a:r>
              <a:rPr lang="en-US"/>
              <a:t>MOSTRAR o diagrama: "as três fontes entram por ingestão defensiva, viram bronze exatamente como chegaram, passam por validação — o que não passa vai pra quarentena, não é descartado — viram prata tratada, e ouro é a fato com as dimensões. Uma DAG dispara isso às 4h."</a:t>
            </a:r>
            <a:br>
              <a:rPr lang="en-US"/>
            </a:br>
            <a:r>
              <a:rPr lang="en-US"/>
              <a:t>"A parte que ninguém acerta de primeira é a de baixo: a carga da fato de entrega tem que ser um upsert pelo id_pedido, não um insert — porque a API corrige o passado. Rodar isso dez vezes tem que dar o mesmo resultado que rodar uma vez. Isso é idempotência."</a:t>
            </a:r>
            <a:br>
              <a:rPr lang="en-US"/>
            </a:br>
            <a:r>
              <a:rPr lang="en-US"/>
              <a:t>Passar rapidamente pelas duas colunas se sobrar tempo — cada linha é a resposta-resumo de um bloco.</a:t>
            </a:r>
            <a:br>
              <a:rPr lang="en-US"/>
            </a:br>
            <a:r>
              <a:rPr lang="en-US"/>
              <a:t>"Quem quiser o gabarito completo, bloco a bloco, com as armadilhas e o que diferencia uma resposta excelente, está no repositório."</a:t>
            </a:r>
            <a:br>
              <a:rPr lang="en-US"/>
            </a:br>
            <a:r>
              <a:rPr lang="en-US"/>
              <a:t>2 min (se usado) · 🅑 · slide novo — resolução resumida do case "Rede Aurora", para uso opcional em aula</a:t>
            </a:r>
            <a:endParaRPr/>
          </a:p>
        </p:txBody>
      </p:sp>
      <p:sp>
        <p:nvSpPr>
          <p:cNvPr id="1047" name="Google Shape;1047;g3fb44c5caf1_4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4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6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4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7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5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5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6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Relationship Id="rId4" Type="http://schemas.openxmlformats.org/officeDocument/2006/relationships/image" Target="../media/image6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6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image" Target="../media/image7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10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10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Relationship Id="rId4" Type="http://schemas.openxmlformats.org/officeDocument/2006/relationships/image" Target="../media/image9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7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9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image" Target="../media/image8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Relationship Id="rId4" Type="http://schemas.openxmlformats.org/officeDocument/2006/relationships/image" Target="../media/image8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Relationship Id="rId4" Type="http://schemas.openxmlformats.org/officeDocument/2006/relationships/image" Target="../media/image7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Relationship Id="rId4" Type="http://schemas.openxmlformats.org/officeDocument/2006/relationships/image" Target="../media/image8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Relationship Id="rId4" Type="http://schemas.openxmlformats.org/officeDocument/2006/relationships/image" Target="../media/image9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Relationship Id="rId4" Type="http://schemas.openxmlformats.org/officeDocument/2006/relationships/image" Target="../media/image9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Relationship Id="rId4" Type="http://schemas.openxmlformats.org/officeDocument/2006/relationships/image" Target="../media/image9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Relationship Id="rId4" Type="http://schemas.openxmlformats.org/officeDocument/2006/relationships/image" Target="../media/image10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Relationship Id="rId4" Type="http://schemas.openxmlformats.org/officeDocument/2006/relationships/image" Target="../media/image9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Relationship Id="rId4" Type="http://schemas.openxmlformats.org/officeDocument/2006/relationships/image" Target="../media/image10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Relationship Id="rId4" Type="http://schemas.openxmlformats.org/officeDocument/2006/relationships/image" Target="../media/image10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Relationship Id="rId4" Type="http://schemas.openxmlformats.org/officeDocument/2006/relationships/image" Target="../media/image9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png"/><Relationship Id="rId4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61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5800" y="4572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[ 00 ]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85800" y="3246120"/>
            <a:ext cx="1280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F063"/>
                </a:solidFill>
                <a:latin typeface="Arial"/>
                <a:ea typeface="Arial"/>
                <a:cs typeface="Arial"/>
                <a:sym typeface="Arial"/>
              </a:rPr>
              <a:t>PANDA 2026 · MINICURSO DE ENGENHARIA DE DADOS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0080" y="3840480"/>
            <a:ext cx="1325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Engenharia de Dados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85800" y="5074920"/>
            <a:ext cx="1280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C9D6E8"/>
                </a:solidFill>
                <a:latin typeface="Arial"/>
                <a:ea typeface="Arial"/>
                <a:cs typeface="Arial"/>
                <a:sym typeface="Arial"/>
              </a:rPr>
              <a:t>o que acontece entre o dado e a decisão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85800" y="87782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C9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8FA6C9"/>
                </a:solidFill>
                <a:latin typeface="Courier New"/>
                <a:ea typeface="Courier New"/>
                <a:cs typeface="Courier New"/>
                <a:sym typeface="Courier New"/>
              </a:rPr>
              <a:t>Grupo de Estudos PANDA/UFSCar  · 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panda_art_transparent.png"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67360" y="4715691"/>
            <a:ext cx="4572000" cy="538842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16824960" y="973836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6F7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6F6F7A"/>
                </a:solidFill>
                <a:latin typeface="Courier New"/>
                <a:ea typeface="Courier New"/>
                <a:cs typeface="Courier New"/>
                <a:sym typeface="Courier New"/>
              </a:rPr>
              <a:t>1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68580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O VÃO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2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c1_vao_1.png" id="35" name="Google Shape;3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4440" y="1554480"/>
            <a:ext cx="15819120" cy="6169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68580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O PROBLEMA ANTES DO NOME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45" name="Google Shape;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3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O programa rodou sem erro. E o número saiu errado.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03_encoding.png" id="49" name="Google Shape;4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8880" y="2331720"/>
            <a:ext cx="13350240" cy="5206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68580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BUG × PROBLEMA DE DADO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59" name="Google Shape;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6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4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Bug é quando o programa quebra. Isso é pior.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c4_bug_dado.png" id="63" name="Google Shape;6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0200" y="2377440"/>
            <a:ext cx="15087600" cy="5884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/>
          <p:nvPr/>
        </p:nvSpPr>
        <p:spPr>
          <a:xfrm>
            <a:off x="68580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OS TRÊS PAPÉIS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CHECKLIST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73" name="Google Shape;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7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5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Quando o número está errado, quem é chamado?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7" name="Google Shape;77;p7"/>
          <p:cNvGraphicFramePr/>
          <p:nvPr/>
        </p:nvGraphicFramePr>
        <p:xfrm>
          <a:off x="685800" y="2560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{B6D4FBB7-ED15-4C32-9255-33DE0F698525}</a:tableStyleId>
              </a:tblPr>
              <a:tblGrid>
                <a:gridCol w="4206250"/>
                <a:gridCol w="7315200"/>
                <a:gridCol w="5394950"/>
              </a:tblGrid>
              <a:tr h="1234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</a:rPr>
                        <a:t>Profissional</a:t>
                      </a:r>
                      <a:endParaRPr sz="1500" u="none" cap="none" strike="noStrike"/>
                    </a:p>
                  </a:txBody>
                  <a:tcPr marT="101600" marB="101600" marR="127000" marL="127000" anchor="ctr">
                    <a:lnL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0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</a:rPr>
                        <a:t>Principal responsabilidade</a:t>
                      </a:r>
                      <a:endParaRPr sz="1500" u="none" cap="none" strike="noStrike"/>
                    </a:p>
                  </a:txBody>
                  <a:tcPr marT="101600" marB="101600" marR="127000" marL="127000" anchor="ctr">
                    <a:lnL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0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</a:rPr>
                        <a:t>É chamado quando…</a:t>
                      </a:r>
                      <a:endParaRPr sz="1500" u="none" cap="none" strike="noStrike"/>
                    </a:p>
                  </a:txBody>
                  <a:tcPr marT="101600" marB="101600" marR="127000" marL="127000" anchor="ctr">
                    <a:lnL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05D"/>
                    </a:solidFill>
                  </a:tcPr>
                </a:tc>
              </a:tr>
              <a:tr h="1234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005D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9005D"/>
                          </a:solidFill>
                        </a:rPr>
                        <a:t>Engenheiro de Dados</a:t>
                      </a:r>
                      <a:endParaRPr sz="1400" u="none" cap="none" strike="noStrike"/>
                    </a:p>
                  </a:txBody>
                  <a:tcPr marT="101600" marB="101600" marR="127000" marL="127000" anchor="ctr">
                    <a:lnL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A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A2A2A"/>
                          </a:solidFill>
                        </a:rPr>
                        <a:t>Coleta, integra, transforma, armazena e disponibiliza dados para consumo.</a:t>
                      </a:r>
                      <a:endParaRPr sz="1350" u="none" cap="none" strike="noStrike"/>
                    </a:p>
                  </a:txBody>
                  <a:tcPr marT="101600" marB="101600" marR="127000" marL="127000" anchor="ctr">
                    <a:lnL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A2A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2A2A2A"/>
                          </a:solidFill>
                        </a:rPr>
                        <a:t>o dado não chegou, chegou duplicado, ou chegou com horas de atraso.</a:t>
                      </a:r>
                      <a:endParaRPr sz="1350" u="none" cap="none" strike="noStrike"/>
                    </a:p>
                  </a:txBody>
                  <a:tcPr marT="101600" marB="101600" marR="127000" marL="127000" anchor="ctr">
                    <a:lnL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4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005D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9005D"/>
                          </a:solidFill>
                        </a:rPr>
                        <a:t>Analista de Dados</a:t>
                      </a:r>
                      <a:endParaRPr sz="1400" u="none" cap="none" strike="noStrike"/>
                    </a:p>
                  </a:txBody>
                  <a:tcPr marT="101600" marB="101600" marR="127000" marL="127000" anchor="ctr">
                    <a:lnL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A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A2A2A"/>
                          </a:solidFill>
                        </a:rPr>
                        <a:t>Explora os dados para gerar relatórios, dashboards e indicadores.</a:t>
                      </a:r>
                      <a:endParaRPr sz="1350" u="none" cap="none" strike="noStrike"/>
                    </a:p>
                  </a:txBody>
                  <a:tcPr marT="101600" marB="101600" marR="127000" marL="127000" anchor="ctr">
                    <a:lnL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A2A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2A2A2A"/>
                          </a:solidFill>
                        </a:rPr>
                        <a:t>a conta está errada.</a:t>
                      </a:r>
                      <a:endParaRPr sz="1350" u="none" cap="none" strike="noStrike"/>
                    </a:p>
                  </a:txBody>
                  <a:tcPr marT="101600" marB="101600" marR="127000" marL="127000" anchor="ctr">
                    <a:lnL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4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005D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9005D"/>
                          </a:solidFill>
                        </a:rPr>
                        <a:t>Cientista de Dados</a:t>
                      </a:r>
                      <a:endParaRPr sz="1400" u="none" cap="none" strike="noStrike"/>
                    </a:p>
                  </a:txBody>
                  <a:tcPr marT="101600" marB="101600" marR="127000" marL="127000" anchor="ctr">
                    <a:lnL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A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A2A2A"/>
                          </a:solidFill>
                        </a:rPr>
                        <a:t>Extrai conhecimento por estatística e aprendizado de máquina.</a:t>
                      </a:r>
                      <a:endParaRPr sz="1350" u="none" cap="none" strike="noStrike"/>
                    </a:p>
                  </a:txBody>
                  <a:tcPr marT="101600" marB="101600" marR="127000" marL="127000" anchor="ctr">
                    <a:lnL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A2A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2A2A2A"/>
                          </a:solidFill>
                        </a:rPr>
                        <a:t>o modelo está errado.</a:t>
                      </a:r>
                      <a:endParaRPr sz="1350" u="none" cap="none" strike="noStrike"/>
                    </a:p>
                  </a:txBody>
                  <a:tcPr marT="101600" marB="101600" marR="127000" marL="127000" anchor="ctr">
                    <a:lnL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616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/>
          <p:nvPr/>
        </p:nvSpPr>
        <p:spPr>
          <a:xfrm>
            <a:off x="68580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[ A FRASE-ÂNCORA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87" name="Google Shape;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6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1463040" y="3017520"/>
            <a:ext cx="153619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C9D6E8"/>
                </a:solidFill>
                <a:latin typeface="Arial"/>
                <a:ea typeface="Arial"/>
                <a:cs typeface="Arial"/>
                <a:sym typeface="Arial"/>
              </a:rPr>
              <a:t>O engenheiro de dados garante que </a:t>
            </a:r>
            <a:r>
              <a:rPr b="1" i="0" lang="en-US" sz="3200" u="none" cap="none" strike="noStrike">
                <a:solidFill>
                  <a:srgbClr val="00F063"/>
                </a:solidFill>
                <a:latin typeface="Arial"/>
                <a:ea typeface="Arial"/>
                <a:cs typeface="Arial"/>
                <a:sym typeface="Arial"/>
              </a:rPr>
              <a:t>o dado certo</a:t>
            </a:r>
            <a:r>
              <a:rPr b="0" i="0" lang="en-US" sz="3200" u="none" cap="none" strike="noStrike">
                <a:solidFill>
                  <a:srgbClr val="C9D6E8"/>
                </a:solidFill>
                <a:latin typeface="Arial"/>
                <a:ea typeface="Arial"/>
                <a:cs typeface="Arial"/>
                <a:sym typeface="Arial"/>
              </a:rPr>
              <a:t> chegue </a:t>
            </a:r>
            <a:r>
              <a:rPr b="1" i="0" lang="en-US" sz="3200" u="none" cap="none" strike="noStrike">
                <a:solidFill>
                  <a:srgbClr val="00F063"/>
                </a:solidFill>
                <a:latin typeface="Arial"/>
                <a:ea typeface="Arial"/>
                <a:cs typeface="Arial"/>
                <a:sym typeface="Arial"/>
              </a:rPr>
              <a:t>ao lugar certo</a:t>
            </a:r>
            <a:r>
              <a:rPr b="0" i="0" lang="en-US" sz="3200" u="none" cap="none" strike="noStrike">
                <a:solidFill>
                  <a:srgbClr val="C9D6E8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3200" u="none" cap="none" strike="noStrike">
                <a:solidFill>
                  <a:srgbClr val="00F063"/>
                </a:solidFill>
                <a:latin typeface="Arial"/>
                <a:ea typeface="Arial"/>
                <a:cs typeface="Arial"/>
                <a:sym typeface="Arial"/>
              </a:rPr>
              <a:t>na hora certa</a:t>
            </a:r>
            <a:r>
              <a:rPr b="0" i="0" lang="en-US" sz="3200" u="none" cap="none" strike="noStrike">
                <a:solidFill>
                  <a:srgbClr val="C9D6E8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3200" u="none" cap="none" strike="noStrike">
                <a:solidFill>
                  <a:srgbClr val="00F063"/>
                </a:solidFill>
                <a:latin typeface="Arial"/>
                <a:ea typeface="Arial"/>
                <a:cs typeface="Arial"/>
                <a:sym typeface="Arial"/>
              </a:rPr>
              <a:t>no formato certo</a:t>
            </a:r>
            <a:r>
              <a:rPr b="0" i="0" lang="en-US" sz="3200" u="none" cap="none" strike="noStrike">
                <a:solidFill>
                  <a:srgbClr val="C9D6E8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en-US" sz="3200" u="none" cap="none" strike="noStrike">
                <a:solidFill>
                  <a:srgbClr val="00F063"/>
                </a:solidFill>
                <a:latin typeface="Arial"/>
                <a:ea typeface="Arial"/>
                <a:cs typeface="Arial"/>
                <a:sym typeface="Arial"/>
              </a:rPr>
              <a:t>com a qualidade certa</a:t>
            </a:r>
            <a:r>
              <a:rPr b="0" i="0" lang="en-US" sz="3200" u="none" cap="none" strike="noStrike">
                <a:solidFill>
                  <a:srgbClr val="C9D6E8"/>
                </a:solidFill>
                <a:latin typeface="Arial"/>
                <a:ea typeface="Arial"/>
                <a:cs typeface="Arial"/>
                <a:sym typeface="Arial"/>
              </a:rPr>
              <a:t> — de forma </a:t>
            </a:r>
            <a:r>
              <a:rPr b="1" i="0" lang="en-US" sz="3200" u="none" cap="none" strike="noStrike">
                <a:solidFill>
                  <a:srgbClr val="00F063"/>
                </a:solidFill>
                <a:latin typeface="Arial"/>
                <a:ea typeface="Arial"/>
                <a:cs typeface="Arial"/>
                <a:sym typeface="Arial"/>
              </a:rPr>
              <a:t>repetível</a:t>
            </a:r>
            <a:r>
              <a:rPr b="0" i="0" lang="en-US" sz="3200" u="none" cap="none" strike="noStrike">
                <a:solidFill>
                  <a:srgbClr val="C9D6E8"/>
                </a:solidFill>
                <a:latin typeface="Arial"/>
                <a:ea typeface="Arial"/>
                <a:cs typeface="Arial"/>
                <a:sym typeface="Arial"/>
              </a:rPr>
              <a:t> e sem alguém precisar apertar um botão.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>
            <a:off x="68580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PYTHON TOCA O DADO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100" name="Google Shape;1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7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12.833 linhas. 1.540 sem área.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07_dfinfo.png" id="104" name="Google Shape;10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6080" y="2331720"/>
            <a:ext cx="12435840" cy="4849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/>
          <p:nvPr/>
        </p:nvSpPr>
        <p:spPr>
          <a:xfrm>
            <a:off x="685800" y="38404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O CICLO DE VIDA DO DADO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114" name="Google Shape;1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0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8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O caminho de hoje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c1_vao_s8.png" id="118" name="Google Shape;11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0200" y="2377440"/>
            <a:ext cx="15087600" cy="5884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TRAZER O DADO PARA CÁ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126" name="Google Shape;1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1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A previsão horária de 8 capitais. Pública, gratuita, sem cadastro.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09_radial.png" id="130" name="Google Shape;13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0" y="2286000"/>
            <a:ext cx="11887200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1"/>
          <p:cNvSpPr/>
          <p:nvPr/>
        </p:nvSpPr>
        <p:spPr>
          <a:xfrm>
            <a:off x="685800" y="8732520"/>
            <a:ext cx="1691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Quanto tempo vocês acham que isso leva?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O QUE É UMA API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2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141" name="Google Shape;1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2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2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2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Uma API é um endereço que devolve dado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10_url.png" id="145" name="Google Shape;14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0200" y="2377440"/>
            <a:ext cx="15087600" cy="5733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O ERRO Nº 1 DE QUEM COMEÇA COM API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155" name="Google Shape;1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3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3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O erro nº 1 de quem começa com API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685800" y="2514600"/>
            <a:ext cx="8229600" cy="6035040"/>
          </a:xfrm>
          <a:prstGeom prst="roundRect">
            <a:avLst>
              <a:gd fmla="val 1212" name="adj"/>
            </a:avLst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685800" y="251460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E048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685800" y="2514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PERIGOSO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1051560" y="365760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9E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2A69E"/>
                </a:solidFill>
                <a:latin typeface="Courier New"/>
                <a:ea typeface="Courier New"/>
                <a:cs typeface="Courier New"/>
                <a:sym typeface="Courier New"/>
              </a:rPr>
              <a:t>dados = requests.get(url).json()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1051560" y="6812280"/>
            <a:ext cx="7498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C9D2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C9C9D2"/>
                </a:solidFill>
                <a:latin typeface="Arial"/>
                <a:ea typeface="Arial"/>
                <a:cs typeface="Arial"/>
                <a:sym typeface="Arial"/>
              </a:rPr>
              <a:t>Se a API respondeu erro, o corpo não é o JSON esperado — e o .json() quebra com uma mensagem que não aponta pra causa real.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9372600" y="2514600"/>
            <a:ext cx="8229600" cy="6035040"/>
          </a:xfrm>
          <a:prstGeom prst="roundRect">
            <a:avLst>
              <a:gd fmla="val 1212" name="adj"/>
            </a:avLst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"/>
          <p:cNvSpPr/>
          <p:nvPr/>
        </p:nvSpPr>
        <p:spPr>
          <a:xfrm>
            <a:off x="9372600" y="251460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"/>
          <p:cNvSpPr/>
          <p:nvPr/>
        </p:nvSpPr>
        <p:spPr>
          <a:xfrm>
            <a:off x="9372600" y="2514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SEGURO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9738360" y="3657600"/>
            <a:ext cx="74980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E0B0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8FE0B0"/>
                </a:solidFill>
                <a:latin typeface="Courier New"/>
                <a:ea typeface="Courier New"/>
                <a:cs typeface="Courier New"/>
                <a:sym typeface="Courier New"/>
              </a:rPr>
              <a:t>r = requests.get(url)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E0B0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8FE0B0"/>
                </a:solidFill>
                <a:latin typeface="Courier New"/>
                <a:ea typeface="Courier New"/>
                <a:cs typeface="Courier New"/>
                <a:sym typeface="Courier New"/>
              </a:rPr>
              <a:t>if r.status_code != 200: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E0B0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8FE0B0"/>
                </a:solidFill>
                <a:latin typeface="Courier New"/>
                <a:ea typeface="Courier New"/>
                <a:cs typeface="Courier New"/>
                <a:sym typeface="Courier New"/>
              </a:rPr>
              <a:t>    raise Exception(f"A API respondeu {r.status_code}")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E0B0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8FE0B0"/>
                </a:solidFill>
                <a:latin typeface="Courier New"/>
                <a:ea typeface="Courier New"/>
                <a:cs typeface="Courier New"/>
                <a:sym typeface="Courier New"/>
              </a:rPr>
              <a:t>dados = r.json()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9738360" y="6812280"/>
            <a:ext cx="7498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C9D2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C9C9D2"/>
                </a:solidFill>
                <a:latin typeface="Arial"/>
                <a:ea typeface="Arial"/>
                <a:cs typeface="Arial"/>
                <a:sym typeface="Arial"/>
              </a:rPr>
              <a:t>Três linhas, e elas economizam a sua tarde: falha com uma mensagem que aponta pro lugar certo.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OLHAR ANTES DE ESCREVER CÓDIGO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178" name="Google Shape;17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4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4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Ninguém escreve código contra uma API que não olhou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12_ptax.png" id="182" name="Google Shape;18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4560" y="2331720"/>
            <a:ext cx="13898880" cy="5698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DEMO AO VIVO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192" name="Google Shape;1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5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14 linhas. Sem banco, sem Airflow, sem nada.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13_demo.png" id="196" name="Google Shape;19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600" y="2331720"/>
            <a:ext cx="15544800" cy="6761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COLUNA × LINHA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206" name="Google Shape;2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6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6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A API não devolve linhas. Devolve colunas.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14_json_colunas.png" id="210" name="Google Shape;2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1680" y="2331720"/>
            <a:ext cx="14264640" cy="5848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PAGINAÇÃO E RATE LIMIT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7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CHECKLIST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220" name="Google Shape;2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7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7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O dado não vem todo de uma vez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c5_retry.png" id="224" name="Google Shape;2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1680" y="2468880"/>
            <a:ext cx="14264640" cy="5563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BRUTO · LIMPO · PRONTO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234" name="Google Shape;2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8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8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Três estágios. Hoje a gente para no segundo.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c3_camadas_promessa.png" id="238" name="Google Shape;23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1680" y="2514600"/>
            <a:ext cx="14264640" cy="5563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POR QUE NÃO PARAR NO ARQUIVO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246" name="Google Shape;2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9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 /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Um arquivo também guarda dado. Por que não parar aqui?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17_csv.png" id="250" name="Google Shape;25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2331720"/>
            <a:ext cx="14630400" cy="497433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9"/>
          <p:cNvSpPr/>
          <p:nvPr/>
        </p:nvSpPr>
        <p:spPr>
          <a:xfrm>
            <a:off x="685800" y="7845552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996696" y="7690104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Arquivo (CSV, planilha)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simples e portátil, mas não valida nada e a única consulta possível é abrir e olhar.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685800" y="8302752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996696" y="8147304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Banco relacional (PostgreSQL)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guarda regras junto com o dado e responde perguntas em SQL. É o caminho deste bloco.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685800" y="8759952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996696" y="8604504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Data warehouse, data lake, lakehouse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os lugares para análise em escala; eles voltam no fim deste bloco.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TIPO, PK, FK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266" name="Google Shape;2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0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2 /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A tabela sabe dizer não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18_ddl.png" id="270" name="Google Shape;2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800" y="2286000"/>
            <a:ext cx="12344400" cy="555498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0"/>
          <p:cNvSpPr/>
          <p:nvPr/>
        </p:nvSpPr>
        <p:spPr>
          <a:xfrm>
            <a:off x="685800" y="8380476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996696" y="8225028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Chave primária (PK)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identifica cada linha de forma única. </a:t>
            </a: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Chave estrangeira (FK)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aponta para uma linha de outra tabela. Primária identifica; estrangeira conecta.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685800" y="8837676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996696" y="8682228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Regra declarada no CREATE TABLE vale para todo mundo que escrever ali — inclusive quem chegar ao time daqui a dois anos.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O BANCO RECUSANDO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284" name="Google Shape;2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1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3 /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O banco recusando o registro órfão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19_orfao.png" id="288" name="Google Shape;28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4600" y="2377440"/>
            <a:ext cx="13258800" cy="517093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1"/>
          <p:cNvSpPr/>
          <p:nvPr/>
        </p:nvSpPr>
        <p:spPr>
          <a:xfrm>
            <a:off x="685800" y="8115300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996696" y="7959852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Nenhuma linha de validação foi escrita em Python: a regra está na definição da tabela, e o banco a aplica sozinho.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685800" y="8572500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996696" y="8417052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Toda regra que o banco fiscaliza é uma regra que você não precisa testar — e que ninguém consegue esquecer.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JOIN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302" name="Google Shape;3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2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4 /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Duas tabelas viram uma resposta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20_join.png" id="306" name="Google Shape;30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2331720"/>
            <a:ext cx="146304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2"/>
          <p:cNvSpPr/>
          <p:nvPr/>
        </p:nvSpPr>
        <p:spPr>
          <a:xfrm>
            <a:off x="685800" y="801928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2"/>
          <p:cNvSpPr/>
          <p:nvPr/>
        </p:nvSpPr>
        <p:spPr>
          <a:xfrm>
            <a:off x="996696" y="786384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A fato guarda o número da cidade, não o nome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assim o texto existe num lugar só, e corrigir a grafia corrige em toda parte.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685800" y="847648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996696" y="832104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 ON diz por qual coluna as duas se encaixam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. É a operação mais usada em SQL, e é literalmente colar duas tabelas pela coluna em comum.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3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GRANULARIDADE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3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3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320" name="Google Shape;3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3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5 /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O que uma linha desta tabela representa?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21_granularidade.png" id="324" name="Google Shape;32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2286000"/>
            <a:ext cx="13716000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3"/>
          <p:cNvSpPr/>
          <p:nvPr/>
        </p:nvSpPr>
        <p:spPr>
          <a:xfrm>
            <a:off x="685800" y="8311896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3"/>
          <p:cNvSpPr/>
          <p:nvPr/>
        </p:nvSpPr>
        <p:spPr>
          <a:xfrm>
            <a:off x="996696" y="8156448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Granularidade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é o que uma linha representa. Toda tabela sempre teve uma — vocês já responderam isso três vezes hoje, sem saber o nome.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3"/>
          <p:cNvSpPr/>
          <p:nvPr/>
        </p:nvSpPr>
        <p:spPr>
          <a:xfrm>
            <a:off x="685800" y="8769096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3"/>
          <p:cNvSpPr/>
          <p:nvPr/>
        </p:nvSpPr>
        <p:spPr>
          <a:xfrm>
            <a:off x="996696" y="8613648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Data warehouse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o banco desenhado para análise, não para operação. Lá a granularidade é decisão de projeto, tomada antes de gravar, e sem volta.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4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NORMALIZAÇÃO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4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4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338" name="Google Shape;3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4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6 /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Se o curso da Ana mudar, quantos lugares você precisa lembrar?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22_normalizacao.png" id="342" name="Google Shape;34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2377440"/>
            <a:ext cx="146304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4"/>
          <p:cNvSpPr/>
          <p:nvPr/>
        </p:nvSpPr>
        <p:spPr>
          <a:xfrm>
            <a:off x="685800" y="806500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4"/>
          <p:cNvSpPr/>
          <p:nvPr/>
        </p:nvSpPr>
        <p:spPr>
          <a:xfrm>
            <a:off x="996696" y="790956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Normalização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é separar por assunto para que cada informação exista em um lugar só — aluno numa tabela, empréstimo em outra.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685800" y="852220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4"/>
          <p:cNvSpPr/>
          <p:nvPr/>
        </p:nvSpPr>
        <p:spPr>
          <a:xfrm>
            <a:off x="996696" y="836676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Existe o caminho oposto: bancos de documento, como o MongoDB, guardam tudo junto num documento. Servem a outros problemas; hoje não é esse o caminho.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RODOU DUAS VEZES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5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5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5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356" name="Google Shape;3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5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5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7 /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5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Rodei duas vezes. E agora tem o dobro.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23_dobro.png" id="360" name="Google Shape;36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0" y="2468880"/>
            <a:ext cx="12801600" cy="486460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5"/>
          <p:cNvSpPr/>
          <p:nvPr/>
        </p:nvSpPr>
        <p:spPr>
          <a:xfrm>
            <a:off x="685800" y="7900416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5"/>
          <p:cNvSpPr/>
          <p:nvPr/>
        </p:nvSpPr>
        <p:spPr>
          <a:xfrm>
            <a:off x="996696" y="7744968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 programa não tem bug: ele grava o que recebe. O que falta é dizer o que fazer quando o mesmo dado chega de novo.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685800" y="8357616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5"/>
          <p:cNvSpPr/>
          <p:nvPr/>
        </p:nvSpPr>
        <p:spPr>
          <a:xfrm>
            <a:off x="996696" y="8202168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Apagar tudo antes de gravar resolveria — e criaria um intervalo com a tabela vazia. A solução boa volta depois do intervalo.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A VIRADA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6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374" name="Google Shape;3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6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8 /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Agora eu vou dizer o contrário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685800" y="2240280"/>
            <a:ext cx="1691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6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6B6B76"/>
                </a:solidFill>
                <a:latin typeface="Arial"/>
                <a:ea typeface="Arial"/>
                <a:cs typeface="Arial"/>
                <a:sym typeface="Arial"/>
              </a:rPr>
              <a:t>A mesma informação repetida é erro de um lado e escolha certa do outro. O que muda é quem está do outro lado.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685800" y="3017520"/>
            <a:ext cx="8183880" cy="4846320"/>
          </a:xfrm>
          <a:prstGeom prst="roundRect">
            <a:avLst>
              <a:gd fmla="val 1509" name="adj"/>
            </a:avLst>
          </a:pr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6"/>
          <p:cNvSpPr/>
          <p:nvPr/>
        </p:nvSpPr>
        <p:spPr>
          <a:xfrm>
            <a:off x="685800" y="3017520"/>
            <a:ext cx="8183880" cy="777240"/>
          </a:xfrm>
          <a:prstGeom prst="roundRect">
            <a:avLst>
              <a:gd fmla="val 9412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6"/>
          <p:cNvSpPr/>
          <p:nvPr/>
        </p:nvSpPr>
        <p:spPr>
          <a:xfrm>
            <a:off x="685800" y="3017520"/>
            <a:ext cx="8183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QUEM ESCREVE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6"/>
          <p:cNvSpPr/>
          <p:nvPr/>
        </p:nvSpPr>
        <p:spPr>
          <a:xfrm>
            <a:off x="1143000" y="4160520"/>
            <a:ext cx="7269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repetir dá problema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1143000" y="5257800"/>
            <a:ext cx="7269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 curso da Ana em três linhas. Corrigir vira três correções — e basta esquecer uma para o banco passar a ter duas verdades.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1143000" y="6949440"/>
            <a:ext cx="7269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→  normalizar: cada informação em um lugar só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9418320" y="3017520"/>
            <a:ext cx="8183880" cy="4846320"/>
          </a:xfrm>
          <a:prstGeom prst="roundRect">
            <a:avLst>
              <a:gd fmla="val 1509" name="adj"/>
            </a:avLst>
          </a:pr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9418320" y="3017520"/>
            <a:ext cx="8183880" cy="777240"/>
          </a:xfrm>
          <a:prstGeom prst="roundRect">
            <a:avLst>
              <a:gd fmla="val 9412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6"/>
          <p:cNvSpPr/>
          <p:nvPr/>
        </p:nvSpPr>
        <p:spPr>
          <a:xfrm>
            <a:off x="9418320" y="3017520"/>
            <a:ext cx="8183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PARA QUEM LÊ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9875520" y="4160520"/>
            <a:ext cx="7269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repetir está certo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9875520" y="5257800"/>
            <a:ext cx="7269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A palavra “eletrônicos” repetida um milhão de vezes na tabela de contexto, para não ter que juntar tabela a cada consulta.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6"/>
          <p:cNvSpPr/>
          <p:nvPr/>
        </p:nvSpPr>
        <p:spPr>
          <a:xfrm>
            <a:off x="9875520" y="6949440"/>
            <a:ext cx="7269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→  repetir de propósito, na dimensão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6"/>
          <p:cNvSpPr/>
          <p:nvPr/>
        </p:nvSpPr>
        <p:spPr>
          <a:xfrm>
            <a:off x="685800" y="8183880"/>
            <a:ext cx="1691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As duas coisas estão certas ao mesmo tempo — e é isso que o resto deste bloco explica.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7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OLTP × OLAP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7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7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401" name="Google Shape;40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7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9 /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7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O mesmo dado, duas perguntas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7"/>
          <p:cNvSpPr/>
          <p:nvPr/>
        </p:nvSpPr>
        <p:spPr>
          <a:xfrm>
            <a:off x="685800" y="2468880"/>
            <a:ext cx="8229600" cy="5394960"/>
          </a:xfrm>
          <a:prstGeom prst="roundRect">
            <a:avLst>
              <a:gd fmla="val 1356" name="adj"/>
            </a:avLst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685800" y="246888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7"/>
          <p:cNvSpPr/>
          <p:nvPr/>
        </p:nvSpPr>
        <p:spPr>
          <a:xfrm>
            <a:off x="685800" y="24688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OLTP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7"/>
          <p:cNvSpPr/>
          <p:nvPr/>
        </p:nvSpPr>
        <p:spPr>
          <a:xfrm>
            <a:off x="1051560" y="3291840"/>
            <a:ext cx="74980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5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2F2F5"/>
                </a:solidFill>
                <a:latin typeface="Arial"/>
                <a:ea typeface="Arial"/>
                <a:cs typeface="Arial"/>
                <a:sym typeface="Arial"/>
              </a:rPr>
              <a:t>“O pedido #1001 foi pago?”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7"/>
          <p:cNvSpPr/>
          <p:nvPr/>
        </p:nvSpPr>
        <p:spPr>
          <a:xfrm>
            <a:off x="1051560" y="662940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E0B0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8FE0B0"/>
                </a:solidFill>
                <a:latin typeface="Courier New"/>
                <a:ea typeface="Courier New"/>
                <a:cs typeface="Courier New"/>
                <a:sym typeface="Courier New"/>
              </a:rPr>
              <a:t>uma linha  ·  agora  ·  milissegundos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7"/>
          <p:cNvSpPr/>
          <p:nvPr/>
        </p:nvSpPr>
        <p:spPr>
          <a:xfrm>
            <a:off x="9372600" y="2468880"/>
            <a:ext cx="8229600" cy="5394960"/>
          </a:xfrm>
          <a:prstGeom prst="roundRect">
            <a:avLst>
              <a:gd fmla="val 1356" name="adj"/>
            </a:avLst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9372600" y="246888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9372600" y="24688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OLAP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9738360" y="3291840"/>
            <a:ext cx="74980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5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2F2F5"/>
                </a:solidFill>
                <a:latin typeface="Arial"/>
                <a:ea typeface="Arial"/>
                <a:cs typeface="Arial"/>
                <a:sym typeface="Arial"/>
              </a:rPr>
              <a:t>“Qual categoria vendeu mais no trimestre?”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7"/>
          <p:cNvSpPr/>
          <p:nvPr/>
        </p:nvSpPr>
        <p:spPr>
          <a:xfrm>
            <a:off x="9738360" y="662940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E0B0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8FE0B0"/>
                </a:solidFill>
                <a:latin typeface="Courier New"/>
                <a:ea typeface="Courier New"/>
                <a:cs typeface="Courier New"/>
                <a:sym typeface="Courier New"/>
              </a:rPr>
              <a:t>milhões de linhas  ·  somadas  ·  alguns segundos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7"/>
          <p:cNvSpPr/>
          <p:nvPr/>
        </p:nvSpPr>
        <p:spPr>
          <a:xfrm>
            <a:off x="685800" y="843076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996696" y="827532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OLTP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os sistemas que atendem a operação: muitas escritas pequenas e leitura de poucas linhas por vez.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685800" y="888796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996696" y="873252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OLAP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os sistemas de análise: poucas escritas grandes e leitura de milhões de linhas somadas. Nenhum banco é bom nos dois.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8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LINHA × COLUNA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8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8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428" name="Google Shape;42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8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8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10 /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8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Por isso o Parquet existe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c2_linha_coluna.png" id="432" name="Google Shape;43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2331720"/>
            <a:ext cx="13716000" cy="534924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8"/>
          <p:cNvSpPr/>
          <p:nvPr/>
        </p:nvSpPr>
        <p:spPr>
          <a:xfrm>
            <a:off x="685800" y="824788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996696" y="809244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Guardado por linha, somar uma coluna obriga a passar por todas as outras. Guardado por coluna, lê-se só a coluna pedida.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8"/>
          <p:cNvSpPr/>
          <p:nvPr/>
        </p:nvSpPr>
        <p:spPr>
          <a:xfrm>
            <a:off x="685800" y="870508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8"/>
          <p:cNvSpPr/>
          <p:nvPr/>
        </p:nvSpPr>
        <p:spPr>
          <a:xfrm>
            <a:off x="996696" y="854964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Parquet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é o formato colunar mais usado em dados — e comprime bem justamente porque valores parecidos ficam vizinhos.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9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FATO E DIMENSÃO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9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9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9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446" name="Google Shape;4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9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9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11 /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9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Uma tabela no meio, cercada de contexto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9"/>
          <p:cNvSpPr/>
          <p:nvPr/>
        </p:nvSpPr>
        <p:spPr>
          <a:xfrm>
            <a:off x="1005840" y="2295144"/>
            <a:ext cx="43325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76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6B6B76"/>
                </a:solidFill>
                <a:latin typeface="Courier New"/>
                <a:ea typeface="Courier New"/>
                <a:cs typeface="Courier New"/>
                <a:sym typeface="Courier New"/>
              </a:rPr>
              <a:t>[ PANDA · Semana 04 ]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emana04_star_schema_PANDA.png" id="451" name="Google Shape;45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840" y="2606040"/>
            <a:ext cx="4332572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9"/>
          <p:cNvSpPr/>
          <p:nvPr/>
        </p:nvSpPr>
        <p:spPr>
          <a:xfrm>
            <a:off x="5795612" y="2295144"/>
            <a:ext cx="34761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76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6B6B76"/>
                </a:solidFill>
                <a:latin typeface="Courier New"/>
                <a:ea typeface="Courier New"/>
                <a:cs typeface="Courier New"/>
                <a:sym typeface="Courier New"/>
              </a:rPr>
              <a:t>[ projeto · Clima das Capitais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modelo_clima_capitais.png" id="453" name="Google Shape;45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95612" y="2606040"/>
            <a:ext cx="3476188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9"/>
          <p:cNvSpPr/>
          <p:nvPr/>
        </p:nvSpPr>
        <p:spPr>
          <a:xfrm>
            <a:off x="1005840" y="8732520"/>
            <a:ext cx="82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fato = o que aconteceu   ·   dimensão = o contexto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9"/>
          <p:cNvSpPr/>
          <p:nvPr/>
        </p:nvSpPr>
        <p:spPr>
          <a:xfrm>
            <a:off x="10094760" y="2743200"/>
            <a:ext cx="750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OS TERMOS NA TELA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9"/>
          <p:cNvSpPr/>
          <p:nvPr/>
        </p:nvSpPr>
        <p:spPr>
          <a:xfrm>
            <a:off x="10094760" y="3465576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9"/>
          <p:cNvSpPr/>
          <p:nvPr/>
        </p:nvSpPr>
        <p:spPr>
          <a:xfrm>
            <a:off x="10405656" y="3383280"/>
            <a:ext cx="7196544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Fato</a:t>
            </a:r>
            <a:r>
              <a:rPr b="0" i="0" lang="en-US" sz="150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a tabela do meio: o que aconteceu, uma linha por evento. Cresce para baixo, milhões de linhas.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9"/>
          <p:cNvSpPr/>
          <p:nvPr/>
        </p:nvSpPr>
        <p:spPr>
          <a:xfrm>
            <a:off x="10094760" y="4425696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9"/>
          <p:cNvSpPr/>
          <p:nvPr/>
        </p:nvSpPr>
        <p:spPr>
          <a:xfrm>
            <a:off x="10405656" y="4343400"/>
            <a:ext cx="7196544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Dimensão</a:t>
            </a:r>
            <a:r>
              <a:rPr b="0" i="0" lang="en-US" sz="150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o contexto: quem, o quê, onde, quando. Cresce para o lado, em colunas descritivas.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9"/>
          <p:cNvSpPr/>
          <p:nvPr/>
        </p:nvSpPr>
        <p:spPr>
          <a:xfrm>
            <a:off x="10094760" y="5385816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9"/>
          <p:cNvSpPr/>
          <p:nvPr/>
        </p:nvSpPr>
        <p:spPr>
          <a:xfrm>
            <a:off x="10405656" y="5303520"/>
            <a:ext cx="7196544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PK</a:t>
            </a:r>
            <a:r>
              <a:rPr b="0" i="0" lang="en-US" sz="150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a chave primária que identifica cada linha da dimensão.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9"/>
          <p:cNvSpPr/>
          <p:nvPr/>
        </p:nvSpPr>
        <p:spPr>
          <a:xfrm>
            <a:off x="10094760" y="6345936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9"/>
          <p:cNvSpPr/>
          <p:nvPr/>
        </p:nvSpPr>
        <p:spPr>
          <a:xfrm>
            <a:off x="10405656" y="6263640"/>
            <a:ext cx="7196544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FK</a:t>
            </a:r>
            <a:r>
              <a:rPr b="0" i="0" lang="en-US" sz="150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a chave estrangeira que, na fato, aponta para a dimensão.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0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O ESTÁGIO SEM CÓDIGO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0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0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0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473" name="Google Shape;47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30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0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12 /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0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O único estágio sem código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28_schema.png" id="477" name="Google Shape;47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2377440"/>
            <a:ext cx="13716000" cy="521208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0"/>
          <p:cNvSpPr/>
          <p:nvPr/>
        </p:nvSpPr>
        <p:spPr>
          <a:xfrm>
            <a:off x="685800" y="815644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0"/>
          <p:cNvSpPr/>
          <p:nvPr/>
        </p:nvSpPr>
        <p:spPr>
          <a:xfrm>
            <a:off x="996696" y="800100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A granularidade é escolhida uma vez e vale para sempre: fosse “uma cidade por dia”, a pergunta “que horas fez mais calor?” seria impossível.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0"/>
          <p:cNvSpPr/>
          <p:nvPr/>
        </p:nvSpPr>
        <p:spPr>
          <a:xfrm>
            <a:off x="685800" y="861364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0"/>
          <p:cNvSpPr/>
          <p:nvPr/>
        </p:nvSpPr>
        <p:spPr>
          <a:xfrm>
            <a:off x="996696" y="845820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 UNIQUE (cidade_id, hora)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é o que faz a segunda gravação da mesma leitura ser recusada — a peça que conserta a duplicação, depois do intervalo.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1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GRANULARIDADE NA PRÁTICA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1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1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CHECKLIST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1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491" name="Google Shape;49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1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1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13 /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1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Uma linha por pedido, ou uma por item?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29_granularidade_pedido.png" id="495" name="Google Shape;49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0" y="2286000"/>
            <a:ext cx="11887200" cy="5824728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31"/>
          <p:cNvSpPr/>
          <p:nvPr/>
        </p:nvSpPr>
        <p:spPr>
          <a:xfrm>
            <a:off x="685800" y="8631936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1"/>
          <p:cNvSpPr/>
          <p:nvPr/>
        </p:nvSpPr>
        <p:spPr>
          <a:xfrm>
            <a:off x="996696" y="8476488"/>
            <a:ext cx="110276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Agregar é subir de granularidade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juntar linhas num total, que é o que o GROUP BY faz. Sempre dá.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1"/>
          <p:cNvSpPr/>
          <p:nvPr/>
        </p:nvSpPr>
        <p:spPr>
          <a:xfrm>
            <a:off x="685800" y="9089136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1"/>
          <p:cNvSpPr/>
          <p:nvPr/>
        </p:nvSpPr>
        <p:spPr>
          <a:xfrm>
            <a:off x="996696" y="8933688"/>
            <a:ext cx="110276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“Descer” seria recuperar o detalhe a partir do total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e isso simplesmente não existe.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1"/>
          <p:cNvSpPr/>
          <p:nvPr/>
        </p:nvSpPr>
        <p:spPr>
          <a:xfrm>
            <a:off x="12435840" y="8613648"/>
            <a:ext cx="5166360" cy="566928"/>
          </a:xfrm>
          <a:prstGeom prst="roundRect">
            <a:avLst>
              <a:gd fmla="val 16129" name="adj"/>
            </a:avLst>
          </a:prstGeom>
          <a:solidFill>
            <a:srgbClr val="DBDAFF"/>
          </a:solidFill>
          <a:ln cap="flat" cmpd="sng" w="12700">
            <a:solidFill>
              <a:srgbClr val="0900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1"/>
          <p:cNvSpPr/>
          <p:nvPr/>
        </p:nvSpPr>
        <p:spPr>
          <a:xfrm>
            <a:off x="12435840" y="8613648"/>
            <a:ext cx="5166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💬 Chat 4 · o que você perde em cada escolha?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2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SCD TIPO 2 ]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2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2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2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511" name="Google Shape;51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2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2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14 /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2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A cliente se mudou, e o ano passado mudou junto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30_scd.png" id="515" name="Google Shape;51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0" y="2240280"/>
            <a:ext cx="11887200" cy="534924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32"/>
          <p:cNvSpPr/>
          <p:nvPr/>
        </p:nvSpPr>
        <p:spPr>
          <a:xfrm>
            <a:off x="685800" y="811072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2"/>
          <p:cNvSpPr/>
          <p:nvPr/>
        </p:nvSpPr>
        <p:spPr>
          <a:xfrm>
            <a:off x="996696" y="795528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Dimensão que muda com o tempo tem nome: SCD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(slowly changing dimension). Aqui é a dim_cliente — uma das dimensões do modelo do slide anterior.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2"/>
          <p:cNvSpPr/>
          <p:nvPr/>
        </p:nvSpPr>
        <p:spPr>
          <a:xfrm>
            <a:off x="685800" y="856792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2"/>
          <p:cNvSpPr/>
          <p:nvPr/>
        </p:nvSpPr>
        <p:spPr>
          <a:xfrm>
            <a:off x="996696" y="841248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 fato não mudou: as vendas gravadas são as mesmas. Mudou o cadastro pelo qual o relatório lê o estado da cliente.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2"/>
          <p:cNvSpPr/>
          <p:nvPr/>
        </p:nvSpPr>
        <p:spPr>
          <a:xfrm>
            <a:off x="685800" y="902512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2"/>
          <p:cNvSpPr/>
          <p:nvPr/>
        </p:nvSpPr>
        <p:spPr>
          <a:xfrm>
            <a:off x="996696" y="886968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Tipo 1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sobrescreve e reescreve o passado; </a:t>
            </a: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Tipo 2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versiona com datas e preserva o que era verdade em cada época.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3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ONDE O DADO ANALÍTICO MORA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3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3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3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531" name="Google Shape;53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33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3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15 /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3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Data warehouse, data lake, lakehouse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31a_tres_lugares.png" id="535" name="Google Shape;53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800" y="2240280"/>
            <a:ext cx="12344400" cy="555498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3"/>
          <p:cNvSpPr/>
          <p:nvPr/>
        </p:nvSpPr>
        <p:spPr>
          <a:xfrm>
            <a:off x="685800" y="836218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3"/>
          <p:cNvSpPr/>
          <p:nvPr/>
        </p:nvSpPr>
        <p:spPr>
          <a:xfrm>
            <a:off x="996696" y="820674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 que separa os dois primeiros é quando a estrutura é exigida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: no warehouse, na hora de gravar; no lake, só na hora de ler.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685800" y="881938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3"/>
          <p:cNvSpPr/>
          <p:nvPr/>
        </p:nvSpPr>
        <p:spPr>
          <a:xfrm>
            <a:off x="996696" y="866394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Nenhum venceu: o warehouse ainda é maioria, e a escolha depende do caso, do orçamento e do tamanho do time.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4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O QUE CUSTA CARO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4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4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4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549" name="Google Shape;54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34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4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16 /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4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O disco custa igual. O que é caro é o motor ligado.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4"/>
          <p:cNvSpPr/>
          <p:nvPr/>
        </p:nvSpPr>
        <p:spPr>
          <a:xfrm>
            <a:off x="685800" y="2423160"/>
            <a:ext cx="5394960" cy="1691640"/>
          </a:xfrm>
          <a:prstGeom prst="roundRect">
            <a:avLst>
              <a:gd fmla="val 5405" name="adj"/>
            </a:avLst>
          </a:pr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4"/>
          <p:cNvSpPr/>
          <p:nvPr/>
        </p:nvSpPr>
        <p:spPr>
          <a:xfrm>
            <a:off x="96012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S3 (armazenamento)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4"/>
          <p:cNvSpPr/>
          <p:nvPr/>
        </p:nvSpPr>
        <p:spPr>
          <a:xfrm>
            <a:off x="960120" y="3008376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2A2A2A"/>
                </a:solidFill>
                <a:latin typeface="Courier New"/>
                <a:ea typeface="Courier New"/>
                <a:cs typeface="Courier New"/>
                <a:sym typeface="Courier New"/>
              </a:rPr>
              <a:t>≈ US$ 23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4"/>
          <p:cNvSpPr/>
          <p:nvPr/>
        </p:nvSpPr>
        <p:spPr>
          <a:xfrm>
            <a:off x="960120" y="370332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7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6B76"/>
                </a:solidFill>
                <a:latin typeface="Arial"/>
                <a:ea typeface="Arial"/>
                <a:cs typeface="Arial"/>
                <a:sym typeface="Arial"/>
              </a:rPr>
              <a:t>por TB / mês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4"/>
          <p:cNvSpPr/>
          <p:nvPr/>
        </p:nvSpPr>
        <p:spPr>
          <a:xfrm>
            <a:off x="6446520" y="2423160"/>
            <a:ext cx="5394960" cy="1691640"/>
          </a:xfrm>
          <a:prstGeom prst="roundRect">
            <a:avLst>
              <a:gd fmla="val 5405" name="adj"/>
            </a:avLst>
          </a:pr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4"/>
          <p:cNvSpPr/>
          <p:nvPr/>
        </p:nvSpPr>
        <p:spPr>
          <a:xfrm>
            <a:off x="672084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Snowflake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4"/>
          <p:cNvSpPr/>
          <p:nvPr/>
        </p:nvSpPr>
        <p:spPr>
          <a:xfrm>
            <a:off x="6720840" y="3008376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2A2A2A"/>
                </a:solidFill>
                <a:latin typeface="Courier New"/>
                <a:ea typeface="Courier New"/>
                <a:cs typeface="Courier New"/>
                <a:sym typeface="Courier New"/>
              </a:rPr>
              <a:t>US$ 23–40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4"/>
          <p:cNvSpPr/>
          <p:nvPr/>
        </p:nvSpPr>
        <p:spPr>
          <a:xfrm>
            <a:off x="6720840" y="370332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7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6B76"/>
                </a:solidFill>
                <a:latin typeface="Arial"/>
                <a:ea typeface="Arial"/>
                <a:cs typeface="Arial"/>
                <a:sym typeface="Arial"/>
              </a:rPr>
              <a:t>por TB / mês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4"/>
          <p:cNvSpPr/>
          <p:nvPr/>
        </p:nvSpPr>
        <p:spPr>
          <a:xfrm>
            <a:off x="12207240" y="2423160"/>
            <a:ext cx="5394960" cy="1691640"/>
          </a:xfrm>
          <a:prstGeom prst="roundRect">
            <a:avLst>
              <a:gd fmla="val 5405" name="adj"/>
            </a:avLst>
          </a:pr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4"/>
          <p:cNvSpPr/>
          <p:nvPr/>
        </p:nvSpPr>
        <p:spPr>
          <a:xfrm>
            <a:off x="12481560" y="26060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4"/>
          <p:cNvSpPr/>
          <p:nvPr/>
        </p:nvSpPr>
        <p:spPr>
          <a:xfrm>
            <a:off x="12481560" y="3008376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2A2A2A"/>
                </a:solidFill>
                <a:latin typeface="Courier New"/>
                <a:ea typeface="Courier New"/>
                <a:cs typeface="Courier New"/>
                <a:sym typeface="Courier New"/>
              </a:rPr>
              <a:t>≈ US$ 20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4"/>
          <p:cNvSpPr/>
          <p:nvPr/>
        </p:nvSpPr>
        <p:spPr>
          <a:xfrm>
            <a:off x="12481560" y="370332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7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6B76"/>
                </a:solidFill>
                <a:latin typeface="Arial"/>
                <a:ea typeface="Arial"/>
                <a:cs typeface="Arial"/>
                <a:sym typeface="Arial"/>
              </a:rPr>
              <a:t>por TB / mês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4"/>
          <p:cNvSpPr/>
          <p:nvPr/>
        </p:nvSpPr>
        <p:spPr>
          <a:xfrm>
            <a:off x="685800" y="4343400"/>
            <a:ext cx="1691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Data warehouse é mais caro por terabyte útil, não por terabyte guardado.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4"/>
          <p:cNvSpPr/>
          <p:nvPr/>
        </p:nvSpPr>
        <p:spPr>
          <a:xfrm>
            <a:off x="2606040" y="480060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ACOPLADO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4"/>
          <p:cNvSpPr/>
          <p:nvPr/>
        </p:nvSpPr>
        <p:spPr>
          <a:xfrm>
            <a:off x="2606040" y="5166360"/>
            <a:ext cx="5943600" cy="2103120"/>
          </a:xfrm>
          <a:prstGeom prst="roundRect">
            <a:avLst>
              <a:gd fmla="val 3478" name="adj"/>
            </a:avLst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4"/>
          <p:cNvSpPr/>
          <p:nvPr/>
        </p:nvSpPr>
        <p:spPr>
          <a:xfrm>
            <a:off x="2880360" y="5166360"/>
            <a:ext cx="53949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F2F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F2F5"/>
                </a:solidFill>
                <a:latin typeface="Arial"/>
                <a:ea typeface="Arial"/>
                <a:cs typeface="Arial"/>
                <a:sym typeface="Arial"/>
              </a:rPr>
              <a:t>armazenamento + motor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9AA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9AA6"/>
                </a:solidFill>
                <a:latin typeface="Arial"/>
                <a:ea typeface="Arial"/>
                <a:cs typeface="Arial"/>
                <a:sym typeface="Arial"/>
              </a:rPr>
              <a:t>sempre ligado, mesmo às 3h de domingo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4"/>
          <p:cNvSpPr/>
          <p:nvPr/>
        </p:nvSpPr>
        <p:spPr>
          <a:xfrm>
            <a:off x="9646920" y="480060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DESACOPLADO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4"/>
          <p:cNvSpPr/>
          <p:nvPr/>
        </p:nvSpPr>
        <p:spPr>
          <a:xfrm>
            <a:off x="9646920" y="5166360"/>
            <a:ext cx="2743200" cy="2103120"/>
          </a:xfrm>
          <a:prstGeom prst="roundRect">
            <a:avLst>
              <a:gd fmla="val 3478" name="adj"/>
            </a:avLst>
          </a:prstGeom>
          <a:solidFill>
            <a:srgbClr val="ECECEC"/>
          </a:solidFill>
          <a:ln cap="flat" cmpd="sng" w="19050">
            <a:solidFill>
              <a:srgbClr val="0900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4"/>
          <p:cNvSpPr/>
          <p:nvPr/>
        </p:nvSpPr>
        <p:spPr>
          <a:xfrm>
            <a:off x="9829800" y="5166360"/>
            <a:ext cx="23774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armazenamento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B7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76"/>
                </a:solidFill>
                <a:latin typeface="Arial"/>
                <a:ea typeface="Arial"/>
                <a:cs typeface="Arial"/>
                <a:sym typeface="Arial"/>
              </a:rPr>
              <a:t>paga preço de disco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4"/>
          <p:cNvSpPr/>
          <p:nvPr/>
        </p:nvSpPr>
        <p:spPr>
          <a:xfrm>
            <a:off x="12938760" y="5166360"/>
            <a:ext cx="2743200" cy="2103120"/>
          </a:xfrm>
          <a:prstGeom prst="roundRect">
            <a:avLst>
              <a:gd fmla="val 3478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4"/>
          <p:cNvSpPr/>
          <p:nvPr/>
        </p:nvSpPr>
        <p:spPr>
          <a:xfrm>
            <a:off x="13121640" y="5166360"/>
            <a:ext cx="23774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motor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liga só quando alguém pergunta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4" name="Google Shape;574;p34"/>
          <p:cNvCxnSpPr/>
          <p:nvPr/>
        </p:nvCxnSpPr>
        <p:spPr>
          <a:xfrm>
            <a:off x="12390120" y="6217920"/>
            <a:ext cx="548640" cy="0"/>
          </a:xfrm>
          <a:prstGeom prst="straightConnector1">
            <a:avLst/>
          </a:prstGeom>
          <a:noFill/>
          <a:ln cap="flat" cmpd="sng" w="25400">
            <a:solidFill>
              <a:srgbClr val="09005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5" name="Google Shape;575;p34"/>
          <p:cNvSpPr/>
          <p:nvPr/>
        </p:nvSpPr>
        <p:spPr>
          <a:xfrm>
            <a:off x="685800" y="779068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4"/>
          <p:cNvSpPr/>
          <p:nvPr/>
        </p:nvSpPr>
        <p:spPr>
          <a:xfrm>
            <a:off x="996696" y="763524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Guardar custa quase o mesmo em todo lugar. O que pesa é o motor de consulta — que no modelo acoplado fica de pé mesmo sem ninguém consultando.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4"/>
          <p:cNvSpPr/>
          <p:nvPr/>
        </p:nvSpPr>
        <p:spPr>
          <a:xfrm>
            <a:off x="685800" y="824788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4"/>
          <p:cNvSpPr/>
          <p:nvPr/>
        </p:nvSpPr>
        <p:spPr>
          <a:xfrm>
            <a:off x="996696" y="809244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Quanto mais pronto o serviço vem, menos você administra e menos você controla. É sempre essa troca.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5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gold_clima_diario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5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5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5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588" name="Google Shape;58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35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5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17 /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5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Lembram do terceiro estágio? É esta tabela.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32_gold.png" id="592" name="Google Shape;59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2331720"/>
            <a:ext cx="13716000" cy="521208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35"/>
          <p:cNvSpPr/>
          <p:nvPr/>
        </p:nvSpPr>
        <p:spPr>
          <a:xfrm>
            <a:off x="685800" y="806500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5"/>
          <p:cNvSpPr/>
          <p:nvPr/>
        </p:nvSpPr>
        <p:spPr>
          <a:xfrm>
            <a:off x="996696" y="790956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No mercado os três estágios têm nome: bronze, prata e ouro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o bruto, o limpo e o pronto. A tabela na tela é o ouro.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5"/>
          <p:cNvSpPr/>
          <p:nvPr/>
        </p:nvSpPr>
        <p:spPr>
          <a:xfrm>
            <a:off x="685800" y="852220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5"/>
          <p:cNvSpPr/>
          <p:nvPr/>
        </p:nvSpPr>
        <p:spPr>
          <a:xfrm>
            <a:off x="996696" y="836676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Ela responde a pergunta sem nenhum cálculo na hora: mín, máx e média de cada capital por dia já estão gravados.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5"/>
          <p:cNvSpPr/>
          <p:nvPr/>
        </p:nvSpPr>
        <p:spPr>
          <a:xfrm>
            <a:off x="685800" y="8915400"/>
            <a:ext cx="1691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76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6B6B76"/>
                </a:solidFill>
                <a:latin typeface="Courier New"/>
                <a:ea typeface="Courier New"/>
                <a:cs typeface="Courier New"/>
                <a:sym typeface="Courier New"/>
              </a:rPr>
              <a:t>[ trazer ✓  |  guardar ✓  |  modelar ✓  |  … 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05D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6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[ INTERVALO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6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605" name="Google Shape;60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36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6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18 / 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6"/>
          <p:cNvSpPr/>
          <p:nvPr/>
        </p:nvSpPr>
        <p:spPr>
          <a:xfrm>
            <a:off x="7132320" y="1371600"/>
            <a:ext cx="4023360" cy="4023360"/>
          </a:xfrm>
          <a:prstGeom prst="ellipse">
            <a:avLst/>
          </a:prstGeom>
          <a:noFill/>
          <a:ln cap="flat" cmpd="sng" w="63500">
            <a:solidFill>
              <a:srgbClr val="00F0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6"/>
          <p:cNvSpPr/>
          <p:nvPr/>
        </p:nvSpPr>
        <p:spPr>
          <a:xfrm>
            <a:off x="7132320" y="1874520"/>
            <a:ext cx="40233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3000"/>
              <a:buFont typeface="Arial"/>
              <a:buNone/>
            </a:pPr>
            <a:r>
              <a:rPr b="1" i="0" lang="en-US" sz="13000" u="none" cap="none" strike="noStrike">
                <a:solidFill>
                  <a:srgbClr val="00F063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6"/>
          <p:cNvSpPr/>
          <p:nvPr/>
        </p:nvSpPr>
        <p:spPr>
          <a:xfrm>
            <a:off x="7132320" y="416052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MINUTOS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6"/>
          <p:cNvSpPr/>
          <p:nvPr/>
        </p:nvSpPr>
        <p:spPr>
          <a:xfrm>
            <a:off x="685800" y="5852160"/>
            <a:ext cx="1691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que a gente acredita nesse número?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6"/>
          <p:cNvSpPr/>
          <p:nvPr/>
        </p:nvSpPr>
        <p:spPr>
          <a:xfrm>
            <a:off x="1371600" y="6995160"/>
            <a:ext cx="1554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C9D6E8"/>
                </a:solidFill>
                <a:latin typeface="Arial"/>
                <a:ea typeface="Arial"/>
                <a:cs typeface="Arial"/>
                <a:sym typeface="Arial"/>
              </a:rPr>
              <a:t>(a gente responde isso — e também a de como isso acontece às 3 da manhã, sem ninguém acordado — quando voltar)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6"/>
          <p:cNvSpPr/>
          <p:nvPr/>
        </p:nvSpPr>
        <p:spPr>
          <a:xfrm>
            <a:off x="685800" y="7818120"/>
            <a:ext cx="1691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github.com/pandaufscar/panda-engdados-study-group-2026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7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SÃO 3 DA MANHÃ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7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621" name="Google Shape;62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37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7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7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São 3 da manhã e o pipeline parou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33_tres_da_manha.png" id="625" name="Google Shape;62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1680" y="2286000"/>
            <a:ext cx="14264640" cy="5848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37"/>
          <p:cNvSpPr/>
          <p:nvPr/>
        </p:nvSpPr>
        <p:spPr>
          <a:xfrm>
            <a:off x="685800" y="8701430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7"/>
          <p:cNvSpPr/>
          <p:nvPr/>
        </p:nvSpPr>
        <p:spPr>
          <a:xfrm>
            <a:off x="996696" y="8545982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 relatório da diretoria é às 8h. Você tem 30 minutos — e a mensagem de erro não diz qual etapa quebrou.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7"/>
          <p:cNvSpPr/>
          <p:nvPr/>
        </p:nvSpPr>
        <p:spPr>
          <a:xfrm>
            <a:off x="685800" y="9158630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7"/>
          <p:cNvSpPr/>
          <p:nvPr/>
        </p:nvSpPr>
        <p:spPr>
          <a:xfrm>
            <a:off x="996696" y="9003182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Tudo neste bloco é resposta para uma pergunta só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: o que você precisa que o seu eu de ontem tenha deixado pronto?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8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MODULARIZAÇÃO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8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8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8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639" name="Google Shape;63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38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8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2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8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Um bloco só não dá para testar nem consertar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34_cinco_funcoes.png" id="643" name="Google Shape;64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1680" y="2331720"/>
            <a:ext cx="14264640" cy="5848502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38"/>
          <p:cNvSpPr/>
          <p:nvPr/>
        </p:nvSpPr>
        <p:spPr>
          <a:xfrm>
            <a:off x="685800" y="8747150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8"/>
          <p:cNvSpPr/>
          <p:nvPr/>
        </p:nvSpPr>
        <p:spPr>
          <a:xfrm>
            <a:off x="996696" y="8591702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Os dois lados fazem exatamente a mesma coisa e rodam igual. A diferença aparece no dia em que algo quebra.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8"/>
          <p:cNvSpPr/>
          <p:nvPr/>
        </p:nvSpPr>
        <p:spPr>
          <a:xfrm>
            <a:off x="685800" y="9204350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8"/>
          <p:cNvSpPr/>
          <p:nvPr/>
        </p:nvSpPr>
        <p:spPr>
          <a:xfrm>
            <a:off x="996696" y="9048902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Separar dá três coisas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: testar uma parte sozinha, trocar uma parte sem mexer no resto, e saber qual parte falhou.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9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AS QUATRO COISAS QUE DÃO ERRADO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9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9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9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657" name="Google Shape;65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39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9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3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9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Detectar e corrigir são coisas diferentes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35_quatro_dimensoes.png" id="661" name="Google Shape;66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7440" y="2286000"/>
            <a:ext cx="13533120" cy="5819242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39"/>
          <p:cNvSpPr/>
          <p:nvPr/>
        </p:nvSpPr>
        <p:spPr>
          <a:xfrm>
            <a:off x="685800" y="864473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9"/>
          <p:cNvSpPr/>
          <p:nvPr/>
        </p:nvSpPr>
        <p:spPr>
          <a:xfrm>
            <a:off x="996696" y="848929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Toda regra de qualidade cai em uma das quatro perguntas: veio? pode existir? é do tipo certo? já vi antes?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9"/>
          <p:cNvSpPr/>
          <p:nvPr/>
        </p:nvSpPr>
        <p:spPr>
          <a:xfrm>
            <a:off x="685800" y="910193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9"/>
          <p:cNvSpPr/>
          <p:nvPr/>
        </p:nvSpPr>
        <p:spPr>
          <a:xfrm>
            <a:off x="996696" y="894649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Validar informa; transformar decide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. Se as duas coisas se misturam no mesmo código, ninguém consegue saber depois o que foi encontrado nem que decisão foi tomada.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0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LOG REAL DA RODADA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40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40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40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675" name="Google Shape;67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40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0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4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0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O log de uma execução de verdade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36_log.png" id="679" name="Google Shape;67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7360" y="2286000"/>
            <a:ext cx="14813280" cy="5925312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40"/>
          <p:cNvSpPr/>
          <p:nvPr/>
        </p:nvSpPr>
        <p:spPr>
          <a:xfrm>
            <a:off x="685800" y="8778240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40"/>
          <p:cNvSpPr/>
          <p:nvPr/>
        </p:nvSpPr>
        <p:spPr>
          <a:xfrm>
            <a:off x="996696" y="8622792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As quatro leituras foram estragadas de propósito para a validação ter o que pegar — a API real não manda 87 graus.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0"/>
          <p:cNvSpPr/>
          <p:nvPr/>
        </p:nvSpPr>
        <p:spPr>
          <a:xfrm>
            <a:off x="685800" y="9235440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40"/>
          <p:cNvSpPr/>
          <p:nvPr/>
        </p:nvSpPr>
        <p:spPr>
          <a:xfrm>
            <a:off x="996696" y="9079992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 log é a primeira coisa que você lê às 3 da manhã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. Por isso ele diz o que aconteceu, com quantos e onde foi parar — não só “deu erro”.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1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QUARENTENA, NÃO DESCARTE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41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1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1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693" name="Google Shape;69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41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1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5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41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200 reprovados pela mesma regra não são 200 dados ruins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37_quarentena.png" id="697" name="Google Shape;69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8880" y="2331720"/>
            <a:ext cx="13350240" cy="5874106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41"/>
          <p:cNvSpPr/>
          <p:nvPr/>
        </p:nvSpPr>
        <p:spPr>
          <a:xfrm>
            <a:off x="685800" y="8745322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41"/>
          <p:cNvSpPr/>
          <p:nvPr/>
        </p:nvSpPr>
        <p:spPr>
          <a:xfrm>
            <a:off x="996696" y="8589874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Quando muitos registros caem na mesma regra, quase sempre é a regra que está errada ou a fonte que mudou — e quem apagou não tem como saber qual dos dois.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41"/>
          <p:cNvSpPr/>
          <p:nvPr/>
        </p:nvSpPr>
        <p:spPr>
          <a:xfrm>
            <a:off x="685800" y="9202522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41"/>
          <p:cNvSpPr/>
          <p:nvPr/>
        </p:nvSpPr>
        <p:spPr>
          <a:xfrm>
            <a:off x="996696" y="9047074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Governança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, em uma frase: só quem precisa acessa, cada um com a permissão mínima, fica registrado quem acessou, e senha ou dado pessoal nunca entram no log.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2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ETL × ELT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2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42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42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711" name="Google Shape;71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42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2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6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2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Transformar antes, ou depois?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39_etl_elt.png" id="715" name="Google Shape;71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2377440"/>
            <a:ext cx="14630400" cy="5705856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42"/>
          <p:cNvSpPr/>
          <p:nvPr/>
        </p:nvSpPr>
        <p:spPr>
          <a:xfrm>
            <a:off x="685800" y="8650224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42"/>
          <p:cNvSpPr/>
          <p:nvPr/>
        </p:nvSpPr>
        <p:spPr>
          <a:xfrm>
            <a:off x="996696" y="8494776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A diferença é só a ordem das letras: limpar no caminho, ou guardar cru e limpar lá dentro.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2"/>
          <p:cNvSpPr/>
          <p:nvPr/>
        </p:nvSpPr>
        <p:spPr>
          <a:xfrm>
            <a:off x="685800" y="9107424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42"/>
          <p:cNvSpPr/>
          <p:nvPr/>
        </p:nvSpPr>
        <p:spPr>
          <a:xfrm>
            <a:off x="996696" y="8951976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 projeto é ETL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porque o banco é pequeno e não tem folga para transformar. O mercado migrou para ELT quando o destino passou a ter computação elástica.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3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O "T" DO ELT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43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43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43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729" name="Google Shape;72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43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43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7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43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O “T” do ELT tem nome: dbt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40_dbt.png" id="733" name="Google Shape;73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7440" y="2286000"/>
            <a:ext cx="13533120" cy="5819242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43"/>
          <p:cNvSpPr/>
          <p:nvPr/>
        </p:nvSpPr>
        <p:spPr>
          <a:xfrm>
            <a:off x="685800" y="864473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43"/>
          <p:cNvSpPr/>
          <p:nvPr/>
        </p:nvSpPr>
        <p:spPr>
          <a:xfrm>
            <a:off x="996696" y="848929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Você escreve SELECTs; ele materializa cada um como tabela, descobre a ordem pelas referências, roda testes e gera a documentação.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3"/>
          <p:cNvSpPr/>
          <p:nvPr/>
        </p:nvSpPr>
        <p:spPr>
          <a:xfrm>
            <a:off x="685800" y="910193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43"/>
          <p:cNvSpPr/>
          <p:nvPr/>
        </p:nvSpPr>
        <p:spPr>
          <a:xfrm>
            <a:off x="996696" y="894649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 desenho da direita é um DAG — entre tabelas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. A mesma estrutura volta no próximo bloco, entre tarefas. Vocês vão reconhecer.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4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A PONTE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4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745" name="Google Shape;74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44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4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8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44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Era para isto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41_era_para_isto.png" id="749" name="Google Shape;74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600" y="2743200"/>
            <a:ext cx="15544800" cy="4352544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44"/>
          <p:cNvSpPr/>
          <p:nvPr/>
        </p:nvSpPr>
        <p:spPr>
          <a:xfrm>
            <a:off x="685800" y="7891272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44"/>
          <p:cNvSpPr/>
          <p:nvPr/>
        </p:nvSpPr>
        <p:spPr>
          <a:xfrm>
            <a:off x="996696" y="7735824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Nada de novo entrou na tela: são as mesmas cinco funções do começo do bloco, agora com a ordem declarada entre elas.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44"/>
          <p:cNvSpPr/>
          <p:nvPr/>
        </p:nvSpPr>
        <p:spPr>
          <a:xfrm>
            <a:off x="685800" y="8348472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44"/>
          <p:cNvSpPr/>
          <p:nvPr/>
        </p:nvSpPr>
        <p:spPr>
          <a:xfrm>
            <a:off x="996696" y="8193024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Orquestrar é coordenar pedaços que já existem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. É por isso que separar o script veio antes — e não depois.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5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POR QUE ORQUESTRAR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45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45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CHECKLIST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5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763" name="Google Shape;76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45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5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9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45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O problema antes da ferramenta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5"/>
          <p:cNvSpPr/>
          <p:nvPr/>
        </p:nvSpPr>
        <p:spPr>
          <a:xfrm>
            <a:off x="685800" y="2514600"/>
            <a:ext cx="5364480" cy="1600200"/>
          </a:xfrm>
          <a:prstGeom prst="roundRect">
            <a:avLst>
              <a:gd fmla="val 5714" name="adj"/>
            </a:avLst>
          </a:pr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45"/>
          <p:cNvSpPr/>
          <p:nvPr/>
        </p:nvSpPr>
        <p:spPr>
          <a:xfrm>
            <a:off x="1005840" y="2743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483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0483F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5"/>
          <p:cNvSpPr/>
          <p:nvPr/>
        </p:nvSpPr>
        <p:spPr>
          <a:xfrm>
            <a:off x="1600200" y="2770632"/>
            <a:ext cx="4084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alguém roda na mão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5"/>
          <p:cNvSpPr/>
          <p:nvPr/>
        </p:nvSpPr>
        <p:spPr>
          <a:xfrm>
            <a:off x="1600200" y="3355848"/>
            <a:ext cx="408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6B76"/>
                </a:solidFill>
                <a:latin typeface="Arial"/>
                <a:ea typeface="Arial"/>
                <a:cs typeface="Arial"/>
                <a:sym typeface="Arial"/>
              </a:rPr>
              <a:t>toda manhã, sem falhar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5"/>
          <p:cNvSpPr/>
          <p:nvPr/>
        </p:nvSpPr>
        <p:spPr>
          <a:xfrm>
            <a:off x="6461760" y="2514600"/>
            <a:ext cx="5364480" cy="1600200"/>
          </a:xfrm>
          <a:prstGeom prst="roundRect">
            <a:avLst>
              <a:gd fmla="val 5714" name="adj"/>
            </a:avLst>
          </a:pr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45"/>
          <p:cNvSpPr/>
          <p:nvPr/>
        </p:nvSpPr>
        <p:spPr>
          <a:xfrm>
            <a:off x="6781800" y="2743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483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0483F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5"/>
          <p:cNvSpPr/>
          <p:nvPr/>
        </p:nvSpPr>
        <p:spPr>
          <a:xfrm>
            <a:off x="7376160" y="2770632"/>
            <a:ext cx="4084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às vezes roda fora de ordem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5"/>
          <p:cNvSpPr/>
          <p:nvPr/>
        </p:nvSpPr>
        <p:spPr>
          <a:xfrm>
            <a:off x="7376160" y="3355848"/>
            <a:ext cx="408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6B76"/>
                </a:solidFill>
                <a:latin typeface="Arial"/>
                <a:ea typeface="Arial"/>
                <a:cs typeface="Arial"/>
                <a:sym typeface="Arial"/>
              </a:rPr>
              <a:t>o gold antes do carregar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5"/>
          <p:cNvSpPr/>
          <p:nvPr/>
        </p:nvSpPr>
        <p:spPr>
          <a:xfrm>
            <a:off x="12237720" y="2514600"/>
            <a:ext cx="5364480" cy="1600200"/>
          </a:xfrm>
          <a:prstGeom prst="roundRect">
            <a:avLst>
              <a:gd fmla="val 5714" name="adj"/>
            </a:avLst>
          </a:pr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45"/>
          <p:cNvSpPr/>
          <p:nvPr/>
        </p:nvSpPr>
        <p:spPr>
          <a:xfrm>
            <a:off x="12557760" y="2743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483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0483F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5"/>
          <p:cNvSpPr/>
          <p:nvPr/>
        </p:nvSpPr>
        <p:spPr>
          <a:xfrm>
            <a:off x="13152120" y="2770632"/>
            <a:ext cx="4084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o registro fica espalhado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45"/>
          <p:cNvSpPr/>
          <p:nvPr/>
        </p:nvSpPr>
        <p:spPr>
          <a:xfrm>
            <a:off x="13152120" y="3355848"/>
            <a:ext cx="408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6B76"/>
                </a:solidFill>
                <a:latin typeface="Arial"/>
                <a:ea typeface="Arial"/>
                <a:cs typeface="Arial"/>
                <a:sym typeface="Arial"/>
              </a:rPr>
              <a:t>um pedaço em cada terminal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5"/>
          <p:cNvSpPr/>
          <p:nvPr/>
        </p:nvSpPr>
        <p:spPr>
          <a:xfrm>
            <a:off x="685800" y="4526280"/>
            <a:ext cx="5364480" cy="1600200"/>
          </a:xfrm>
          <a:prstGeom prst="roundRect">
            <a:avLst>
              <a:gd fmla="val 5714" name="adj"/>
            </a:avLst>
          </a:pr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45"/>
          <p:cNvSpPr/>
          <p:nvPr/>
        </p:nvSpPr>
        <p:spPr>
          <a:xfrm>
            <a:off x="1005840" y="4754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483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0483F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5"/>
          <p:cNvSpPr/>
          <p:nvPr/>
        </p:nvSpPr>
        <p:spPr>
          <a:xfrm>
            <a:off x="1600200" y="4782312"/>
            <a:ext cx="4084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o dado duplica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5"/>
          <p:cNvSpPr/>
          <p:nvPr/>
        </p:nvSpPr>
        <p:spPr>
          <a:xfrm>
            <a:off x="1600200" y="5367528"/>
            <a:ext cx="408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6B76"/>
                </a:solidFill>
                <a:latin typeface="Arial"/>
                <a:ea typeface="Arial"/>
                <a:cs typeface="Arial"/>
                <a:sym typeface="Arial"/>
              </a:rPr>
              <a:t>e ninguém percebe na hora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5"/>
          <p:cNvSpPr/>
          <p:nvPr/>
        </p:nvSpPr>
        <p:spPr>
          <a:xfrm>
            <a:off x="6461760" y="4526280"/>
            <a:ext cx="5364480" cy="1600200"/>
          </a:xfrm>
          <a:prstGeom prst="roundRect">
            <a:avLst>
              <a:gd fmla="val 5714" name="adj"/>
            </a:avLst>
          </a:pr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45"/>
          <p:cNvSpPr/>
          <p:nvPr/>
        </p:nvSpPr>
        <p:spPr>
          <a:xfrm>
            <a:off x="6781800" y="4754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483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0483F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45"/>
          <p:cNvSpPr/>
          <p:nvPr/>
        </p:nvSpPr>
        <p:spPr>
          <a:xfrm>
            <a:off x="7376160" y="4782312"/>
            <a:ext cx="4084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ninguém sabe se rodou hoje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5"/>
          <p:cNvSpPr/>
          <p:nvPr/>
        </p:nvSpPr>
        <p:spPr>
          <a:xfrm>
            <a:off x="7376160" y="5367528"/>
            <a:ext cx="408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6B76"/>
                </a:solidFill>
                <a:latin typeface="Arial"/>
                <a:ea typeface="Arial"/>
                <a:cs typeface="Arial"/>
                <a:sym typeface="Arial"/>
              </a:rPr>
              <a:t>a resposta é abrir e conferir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45"/>
          <p:cNvSpPr/>
          <p:nvPr/>
        </p:nvSpPr>
        <p:spPr>
          <a:xfrm>
            <a:off x="12237720" y="4526280"/>
            <a:ext cx="5364480" cy="1600200"/>
          </a:xfrm>
          <a:prstGeom prst="roundRect">
            <a:avLst>
              <a:gd fmla="val 5714" name="adj"/>
            </a:avLst>
          </a:pr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45"/>
          <p:cNvSpPr/>
          <p:nvPr/>
        </p:nvSpPr>
        <p:spPr>
          <a:xfrm>
            <a:off x="12557760" y="4754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483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0483F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45"/>
          <p:cNvSpPr/>
          <p:nvPr/>
        </p:nvSpPr>
        <p:spPr>
          <a:xfrm>
            <a:off x="13152120" y="4782312"/>
            <a:ext cx="4084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falhou? ninguém sabe por quê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45"/>
          <p:cNvSpPr/>
          <p:nvPr/>
        </p:nvSpPr>
        <p:spPr>
          <a:xfrm>
            <a:off x="13152120" y="5367528"/>
            <a:ext cx="408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6B76"/>
                </a:solidFill>
                <a:latin typeface="Arial"/>
                <a:ea typeface="Arial"/>
                <a:cs typeface="Arial"/>
                <a:sym typeface="Arial"/>
              </a:rPr>
              <a:t>a mensagem não diz a etapa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5"/>
          <p:cNvSpPr/>
          <p:nvPr/>
        </p:nvSpPr>
        <p:spPr>
          <a:xfrm>
            <a:off x="685800" y="6720840"/>
            <a:ext cx="1691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Nada disso se resolve com uma ferramenta melhor de escrever código.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45"/>
          <p:cNvSpPr/>
          <p:nvPr/>
        </p:nvSpPr>
        <p:spPr>
          <a:xfrm>
            <a:off x="685800" y="792784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45"/>
          <p:cNvSpPr/>
          <p:nvPr/>
        </p:nvSpPr>
        <p:spPr>
          <a:xfrm>
            <a:off x="996696" y="777240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É um problema de coordenação, não de programação: quando rodar, em que ordem, com quais dependências, como observar e como recuperar.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45"/>
          <p:cNvSpPr/>
          <p:nvPr/>
        </p:nvSpPr>
        <p:spPr>
          <a:xfrm>
            <a:off x="685800" y="838504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45"/>
          <p:cNvSpPr/>
          <p:nvPr/>
        </p:nvSpPr>
        <p:spPr>
          <a:xfrm>
            <a:off x="996696" y="822960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Orquestrador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é o programa que responde essas cinco perguntas por você — e guarda o histórico de cada resposta.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6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DAG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46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46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46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805" name="Google Shape;80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46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46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10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6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Dirigido, acíclico, grafo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43_dag.png" id="809" name="Google Shape;80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8880" y="2286000"/>
            <a:ext cx="13350240" cy="5874106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46"/>
          <p:cNvSpPr/>
          <p:nvPr/>
        </p:nvSpPr>
        <p:spPr>
          <a:xfrm>
            <a:off x="685800" y="8699602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46"/>
          <p:cNvSpPr/>
          <p:nvPr/>
        </p:nvSpPr>
        <p:spPr>
          <a:xfrm>
            <a:off x="996696" y="8544154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 nome é a descrição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: as setas têm sentido, não pode ter volta, e pode ramificar em vez de ser uma fila.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46"/>
          <p:cNvSpPr/>
          <p:nvPr/>
        </p:nvSpPr>
        <p:spPr>
          <a:xfrm>
            <a:off x="685800" y="9156802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46"/>
          <p:cNvSpPr/>
          <p:nvPr/>
        </p:nvSpPr>
        <p:spPr>
          <a:xfrm>
            <a:off x="996696" y="9001354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Dois nós que dependem um do outro nunca ficam prontos — por isso a proibição de ciclo não é estética, é o que permite existir uma ordem.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7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dag.py · REAL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47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47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47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823" name="Google Shape;82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47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47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11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47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Repara no que não tem aqui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44_dagpy.png" id="827" name="Google Shape;82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4640" y="2240280"/>
            <a:ext cx="12618720" cy="5993892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47"/>
          <p:cNvSpPr/>
          <p:nvPr/>
        </p:nvSpPr>
        <p:spPr>
          <a:xfrm>
            <a:off x="685800" y="877366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47"/>
          <p:cNvSpPr/>
          <p:nvPr/>
        </p:nvSpPr>
        <p:spPr>
          <a:xfrm>
            <a:off x="996696" y="861822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 arquivo inteiro tem vinte linhas, e nenhuma delas busca dado, valida ou grava: isso tudo já existia no pipeline.py.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7"/>
          <p:cNvSpPr/>
          <p:nvPr/>
        </p:nvSpPr>
        <p:spPr>
          <a:xfrm>
            <a:off x="685800" y="923086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47"/>
          <p:cNvSpPr/>
          <p:nvPr/>
        </p:nvSpPr>
        <p:spPr>
          <a:xfrm>
            <a:off x="996696" y="907542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É a demonstração de por que a parte anterior veio antes desta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não dá para coordenar pedaços que não existem separados.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48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GRAPH E GRID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48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48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48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841" name="Google Shape;84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48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48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12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8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Quatro caixas verdes, e um histórico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8"/>
          <p:cNvSpPr/>
          <p:nvPr/>
        </p:nvSpPr>
        <p:spPr>
          <a:xfrm>
            <a:off x="2999232" y="2084832"/>
            <a:ext cx="12289536" cy="6135444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6B6B7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outputs/ativos-slides/s45_airflow_real.png" id="846" name="Google Shape;84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8960" y="2194560"/>
            <a:ext cx="12070080" cy="5915988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48"/>
          <p:cNvSpPr/>
          <p:nvPr/>
        </p:nvSpPr>
        <p:spPr>
          <a:xfrm>
            <a:off x="3108960" y="8165412"/>
            <a:ext cx="1207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76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6B6B76"/>
                </a:solidFill>
                <a:latin typeface="Courier New"/>
                <a:ea typeface="Courier New"/>
                <a:cs typeface="Courier New"/>
                <a:sym typeface="Courier New"/>
              </a:rPr>
              <a:t>captura real · pipeline_vagas_tecnologia · projeto do grupo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8"/>
          <p:cNvSpPr/>
          <p:nvPr/>
        </p:nvSpPr>
        <p:spPr>
          <a:xfrm>
            <a:off x="685800" y="8723196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48"/>
          <p:cNvSpPr/>
          <p:nvPr/>
        </p:nvSpPr>
        <p:spPr>
          <a:xfrm>
            <a:off x="996696" y="8567748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 Graph responde “o que depende de quem”. O Grid responde “o que aconteceu nas últimas execuções”.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48"/>
          <p:cNvSpPr/>
          <p:nvPr/>
        </p:nvSpPr>
        <p:spPr>
          <a:xfrm>
            <a:off x="685800" y="9180396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48"/>
          <p:cNvSpPr/>
          <p:nvPr/>
        </p:nvSpPr>
        <p:spPr>
          <a:xfrm>
            <a:off x="996696" y="9024948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Os quadrados vermelhos do começo são a depuração real de quem montou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. Nunca dá certo de primeira — e o histórico guarda isso.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9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AGENDAMENTO E RECUPERAÇÃO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49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49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CHECKLIST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49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861" name="Google Shape;8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49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49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13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49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Quantas vezes essa DAG vai rodar quando eu ligar?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46_catchup.png" id="865" name="Google Shape;865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8880" y="2286000"/>
            <a:ext cx="13350240" cy="5473598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49"/>
          <p:cNvSpPr/>
          <p:nvPr/>
        </p:nvSpPr>
        <p:spPr>
          <a:xfrm>
            <a:off x="685800" y="8299094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49"/>
          <p:cNvSpPr/>
          <p:nvPr/>
        </p:nvSpPr>
        <p:spPr>
          <a:xfrm>
            <a:off x="996696" y="8143646"/>
            <a:ext cx="110276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“Uma vez por dia” significa “no fim de cada intervalo de um dia”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a execução do dia 10 roda na virada para o 11, porque só aí o dia 10 acabou.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0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IDEMPOTÊNCIA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50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50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50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877" name="Google Shape;87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50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50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14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50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A cena das linhas duplicadas, com outro final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47_idempotencia.png" id="881" name="Google Shape;881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7520" y="2286000"/>
            <a:ext cx="12252960" cy="612648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50"/>
          <p:cNvSpPr/>
          <p:nvPr/>
        </p:nvSpPr>
        <p:spPr>
          <a:xfrm>
            <a:off x="685800" y="893368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50"/>
          <p:cNvSpPr/>
          <p:nvPr/>
        </p:nvSpPr>
        <p:spPr>
          <a:xfrm>
            <a:off x="996696" y="877824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ON CONFLICT ... DO UPDATE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diz ao banco: se já existe uma leitura dessa cidade nessa hora, atualiza em vez de criar outra.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50"/>
          <p:cNvSpPr/>
          <p:nvPr/>
        </p:nvSpPr>
        <p:spPr>
          <a:xfrm>
            <a:off x="685800" y="939088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50"/>
          <p:cNvSpPr/>
          <p:nvPr/>
        </p:nvSpPr>
        <p:spPr>
          <a:xfrm>
            <a:off x="996696" y="923544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É isso que torna seguro tentar de novo depois de uma falha — e é honesto dizer: isso não estava no material, a gente aprendeu construindo.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1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POR QUE CONTAINER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51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51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51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895" name="Google Shape;89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51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51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15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51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O Airflow não é um programa. São quatro.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48_quatro_servicos.png" id="899" name="Google Shape;899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2286000"/>
            <a:ext cx="13716000" cy="576072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51"/>
          <p:cNvSpPr/>
          <p:nvPr/>
        </p:nvSpPr>
        <p:spPr>
          <a:xfrm>
            <a:off x="685800" y="8586216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51"/>
          <p:cNvSpPr/>
          <p:nvPr/>
        </p:nvSpPr>
        <p:spPr>
          <a:xfrm>
            <a:off x="996696" y="8430768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Container empacota cada serviço com as versões certas e sobe tudo junto — é a resposta ao “na minha máquina funciona”.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51"/>
          <p:cNvSpPr/>
          <p:nvPr/>
        </p:nvSpPr>
        <p:spPr>
          <a:xfrm>
            <a:off x="685800" y="9043416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51"/>
          <p:cNvSpPr/>
          <p:nvPr/>
        </p:nvSpPr>
        <p:spPr>
          <a:xfrm>
            <a:off x="996696" y="8887968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Airflow está em cerca de metade das empresas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e uma em cada cinco não usa orquestração nenhuma, ainda rodando na mão.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2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CADA SEMANA VIROU UMA PEÇA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52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911" name="Google Shape;91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52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52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1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52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Cada semana virou uma peça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49_semanas.png" id="915" name="Google Shape;91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0160" y="1965960"/>
            <a:ext cx="15727680" cy="6133795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52"/>
          <p:cNvSpPr/>
          <p:nvPr/>
        </p:nvSpPr>
        <p:spPr>
          <a:xfrm>
            <a:off x="685800" y="852220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52"/>
          <p:cNvSpPr/>
          <p:nvPr/>
        </p:nvSpPr>
        <p:spPr>
          <a:xfrm>
            <a:off x="996696" y="836676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Os requisitos obrigatórios do projeto final: uma API, um pipeline organizado, banco PostgreSQL, coordenação com Airflow, tratamento de erro, e documentação.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52"/>
          <p:cNvSpPr/>
          <p:nvPr/>
        </p:nvSpPr>
        <p:spPr>
          <a:xfrm>
            <a:off x="685800" y="897940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52"/>
          <p:cNvSpPr/>
          <p:nvPr/>
        </p:nvSpPr>
        <p:spPr>
          <a:xfrm>
            <a:off x="996696" y="882396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A filosofia declarada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um pipeline pequeno, organizado e documentado vale mais que uma solução grande e difícil de reproduzir.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3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OS OITO PROJETOS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53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53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53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929" name="Google Shape;92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53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53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2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53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Oito pessoas, oito pipelines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50_oito_projetos.png" id="933" name="Google Shape;933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600" y="1874520"/>
            <a:ext cx="15544800" cy="6995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54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A CAMADA DE CONSUMO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54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54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54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943" name="Google Shape;94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54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54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3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54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Tudo isso foi encanamento. Isto é a torneira.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51_amplitude.png" id="947" name="Google Shape;947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8880" y="1920240"/>
            <a:ext cx="13350240" cy="6942125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54"/>
          <p:cNvSpPr/>
          <p:nvPr/>
        </p:nvSpPr>
        <p:spPr>
          <a:xfrm>
            <a:off x="685800" y="888796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54"/>
          <p:cNvSpPr/>
          <p:nvPr/>
        </p:nvSpPr>
        <p:spPr>
          <a:xfrm>
            <a:off x="996696" y="873252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A torneira é a única parte que quem usa o dado vê</a:t>
            </a: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 — e ela só existe porque todo o resto funcionou.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54"/>
          <p:cNvSpPr/>
          <p:nvPr/>
        </p:nvSpPr>
        <p:spPr>
          <a:xfrm>
            <a:off x="685800" y="9345168"/>
            <a:ext cx="118872" cy="118872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54"/>
          <p:cNvSpPr/>
          <p:nvPr/>
        </p:nvSpPr>
        <p:spPr>
          <a:xfrm>
            <a:off x="996696" y="9189720"/>
            <a:ext cx="166055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Um projeto do grupo (Ônibus de SP) foi além do banco e construiu um painel com mapa em tempo real. Os outros sete pararam no banco — que é onde a maioria dos projetos para, inclusive em empresa.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55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O VÃO, COMPLETO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55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959" name="Google Shape;95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55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55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4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55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Essa é a mesma tela do começo.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c1_vao_5.png" id="963" name="Google Shape;96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2148840"/>
            <a:ext cx="16002000" cy="6240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56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A SÍNTESE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56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56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CONCEITO 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56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973" name="Google Shape;973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56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56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5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56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A frase, agora inteira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53_frase.png" id="977" name="Google Shape;977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0240" y="1874520"/>
            <a:ext cx="14447520" cy="7223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57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PARA ONDE CONTINUAR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57"/>
          <p:cNvSpPr/>
          <p:nvPr/>
        </p:nvSpPr>
        <p:spPr>
          <a:xfrm>
            <a:off x="14950440" y="347472"/>
            <a:ext cx="2651760" cy="402336"/>
          </a:xfrm>
          <a:prstGeom prst="roundRect">
            <a:avLst>
              <a:gd fmla="val 5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57"/>
          <p:cNvSpPr/>
          <p:nvPr/>
        </p:nvSpPr>
        <p:spPr>
          <a:xfrm>
            <a:off x="14950440" y="347472"/>
            <a:ext cx="2651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CHECKLIST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57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987" name="Google Shape;98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57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57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6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57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O que não deu tempo — e por onde continuar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ativos-slides/s54_expansoes.png" id="991" name="Google Shape;991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4480" y="1965960"/>
            <a:ext cx="15179040" cy="5768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58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9005D"/>
                </a:solidFill>
                <a:latin typeface="Courier New"/>
                <a:ea typeface="Courier New"/>
                <a:cs typeface="Courier New"/>
                <a:sym typeface="Courier New"/>
              </a:rPr>
              <a:t>[ DE ONDE VEIO O QUE VOCÊS VIRAM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58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999" name="Google Shape;99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58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58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7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58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Uma última coisa, que é de justiça.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58"/>
          <p:cNvSpPr/>
          <p:nvPr/>
        </p:nvSpPr>
        <p:spPr>
          <a:xfrm>
            <a:off x="685800" y="3054096"/>
            <a:ext cx="128016" cy="128016"/>
          </a:xfrm>
          <a:prstGeom prst="rect">
            <a:avLst/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58"/>
          <p:cNvSpPr/>
          <p:nvPr/>
        </p:nvSpPr>
        <p:spPr>
          <a:xfrm>
            <a:off x="1005840" y="2926080"/>
            <a:ext cx="1600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Essa apresentação não é um resumo do material do grupo. Ela parte dele, e completa em alguns pontos.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58"/>
          <p:cNvSpPr/>
          <p:nvPr/>
        </p:nvSpPr>
        <p:spPr>
          <a:xfrm>
            <a:off x="685800" y="4425696"/>
            <a:ext cx="128016" cy="128016"/>
          </a:xfrm>
          <a:prstGeom prst="rect">
            <a:avLst/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58"/>
          <p:cNvSpPr/>
          <p:nvPr/>
        </p:nvSpPr>
        <p:spPr>
          <a:xfrm>
            <a:off x="1005840" y="4297680"/>
            <a:ext cx="1600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Parte do que vocês ouviram hoje — idempotência, os custos de nuvem, o dbt — não estava nas nossas dez semanas. A gente acrescentou porque achou que fazia falta.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58"/>
          <p:cNvSpPr/>
          <p:nvPr/>
        </p:nvSpPr>
        <p:spPr>
          <a:xfrm>
            <a:off x="685800" y="5797296"/>
            <a:ext cx="128016" cy="128016"/>
          </a:xfrm>
          <a:prstGeom prst="rect">
            <a:avLst/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58"/>
          <p:cNvSpPr/>
          <p:nvPr/>
        </p:nvSpPr>
        <p:spPr>
          <a:xfrm>
            <a:off x="1005840" y="5669280"/>
            <a:ext cx="1600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O material original, com tudo que foi estudado, está no repositório. E os oito projetos também.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58"/>
          <p:cNvSpPr/>
          <p:nvPr/>
        </p:nvSpPr>
        <p:spPr>
          <a:xfrm>
            <a:off x="685800" y="7315200"/>
            <a:ext cx="16916400" cy="914400"/>
          </a:xfrm>
          <a:prstGeom prst="roundRect">
            <a:avLst>
              <a:gd fmla="val 10000" name="adj"/>
            </a:avLst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58"/>
          <p:cNvSpPr/>
          <p:nvPr/>
        </p:nvSpPr>
        <p:spPr>
          <a:xfrm>
            <a:off x="685800" y="7315200"/>
            <a:ext cx="1691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github.com/pandaufscar/panda-engdados-study-group-2026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05D"/>
        </a:solidFill>
      </p:bgPr>
    </p:bg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59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[ PARA TERMINAR, UM DESAFIO EM VEZ DE UM OBRIGADO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59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1018" name="Google Shape;101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59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59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8 /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59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Rede Aurora — um desafio, sem resposta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59"/>
          <p:cNvSpPr/>
          <p:nvPr/>
        </p:nvSpPr>
        <p:spPr>
          <a:xfrm>
            <a:off x="685800" y="2057400"/>
            <a:ext cx="1691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C9D6E8"/>
                </a:solidFill>
                <a:latin typeface="Arial"/>
                <a:ea typeface="Arial"/>
                <a:cs typeface="Arial"/>
                <a:sym typeface="Arial"/>
              </a:rPr>
              <a:t>40 lojas físicas. Painel diário de vendas. Três fontes que não se falam.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59"/>
          <p:cNvSpPr/>
          <p:nvPr/>
        </p:nvSpPr>
        <p:spPr>
          <a:xfrm>
            <a:off x="685800" y="2834640"/>
            <a:ext cx="5394960" cy="1554480"/>
          </a:xfrm>
          <a:prstGeom prst="roundRect">
            <a:avLst>
              <a:gd fmla="val 4706" name="adj"/>
            </a:avLst>
          </a:prstGeom>
          <a:solidFill>
            <a:srgbClr val="140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59"/>
          <p:cNvSpPr/>
          <p:nvPr/>
        </p:nvSpPr>
        <p:spPr>
          <a:xfrm>
            <a:off x="914400" y="301752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F063"/>
                </a:solidFill>
                <a:latin typeface="Arial"/>
                <a:ea typeface="Arial"/>
                <a:cs typeface="Arial"/>
                <a:sym typeface="Arial"/>
              </a:rPr>
              <a:t>PDV de produção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59"/>
          <p:cNvSpPr/>
          <p:nvPr/>
        </p:nvSpPr>
        <p:spPr>
          <a:xfrm>
            <a:off x="914400" y="361188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C9D6E8"/>
                </a:solidFill>
                <a:latin typeface="Arial"/>
                <a:ea typeface="Arial"/>
                <a:cs typeface="Arial"/>
                <a:sym typeface="Arial"/>
              </a:rPr>
              <a:t>PostgreSQL, atualizado a cada venda no caixa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59"/>
          <p:cNvSpPr/>
          <p:nvPr/>
        </p:nvSpPr>
        <p:spPr>
          <a:xfrm>
            <a:off x="6446520" y="2834640"/>
            <a:ext cx="5394960" cy="1554480"/>
          </a:xfrm>
          <a:prstGeom prst="roundRect">
            <a:avLst>
              <a:gd fmla="val 4706" name="adj"/>
            </a:avLst>
          </a:prstGeom>
          <a:solidFill>
            <a:srgbClr val="140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59"/>
          <p:cNvSpPr/>
          <p:nvPr/>
        </p:nvSpPr>
        <p:spPr>
          <a:xfrm>
            <a:off x="6675120" y="301752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F063"/>
                </a:solidFill>
                <a:latin typeface="Arial"/>
                <a:ea typeface="Arial"/>
                <a:cs typeface="Arial"/>
                <a:sym typeface="Arial"/>
              </a:rPr>
              <a:t>Planilha de promoções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59"/>
          <p:cNvSpPr/>
          <p:nvPr/>
        </p:nvSpPr>
        <p:spPr>
          <a:xfrm>
            <a:off x="6675120" y="361188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C9D6E8"/>
                </a:solidFill>
                <a:latin typeface="Arial"/>
                <a:ea typeface="Arial"/>
                <a:cs typeface="Arial"/>
                <a:sym typeface="Arial"/>
              </a:rPr>
              <a:t>preenchida à mão, às vezes atrasada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59"/>
          <p:cNvSpPr/>
          <p:nvPr/>
        </p:nvSpPr>
        <p:spPr>
          <a:xfrm>
            <a:off x="12207240" y="2834640"/>
            <a:ext cx="5394960" cy="1554480"/>
          </a:xfrm>
          <a:prstGeom prst="roundRect">
            <a:avLst>
              <a:gd fmla="val 4706" name="adj"/>
            </a:avLst>
          </a:prstGeom>
          <a:solidFill>
            <a:srgbClr val="140A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59"/>
          <p:cNvSpPr/>
          <p:nvPr/>
        </p:nvSpPr>
        <p:spPr>
          <a:xfrm>
            <a:off x="12435840" y="301752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F063"/>
                </a:solidFill>
                <a:latin typeface="Arial"/>
                <a:ea typeface="Arial"/>
                <a:cs typeface="Arial"/>
                <a:sym typeface="Arial"/>
              </a:rPr>
              <a:t>API do parceiro de entrega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59"/>
          <p:cNvSpPr/>
          <p:nvPr/>
        </p:nvSpPr>
        <p:spPr>
          <a:xfrm>
            <a:off x="12435840" y="361188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C9D6E8"/>
                </a:solidFill>
                <a:latin typeface="Arial"/>
                <a:ea typeface="Arial"/>
                <a:cs typeface="Arial"/>
                <a:sym typeface="Arial"/>
              </a:rPr>
              <a:t>corrige o status de até 7 dias atrás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59"/>
          <p:cNvSpPr/>
          <p:nvPr/>
        </p:nvSpPr>
        <p:spPr>
          <a:xfrm>
            <a:off x="685800" y="4882896"/>
            <a:ext cx="128016" cy="128016"/>
          </a:xfrm>
          <a:prstGeom prst="rect">
            <a:avLst/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59"/>
          <p:cNvSpPr/>
          <p:nvPr/>
        </p:nvSpPr>
        <p:spPr>
          <a:xfrm>
            <a:off x="1005840" y="4754880"/>
            <a:ext cx="1627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· Arquitetura — o fluxo de ponta a ponta, das três fontes até o painel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59"/>
          <p:cNvSpPr/>
          <p:nvPr/>
        </p:nvSpPr>
        <p:spPr>
          <a:xfrm>
            <a:off x="685800" y="5413248"/>
            <a:ext cx="128016" cy="128016"/>
          </a:xfrm>
          <a:prstGeom prst="rect">
            <a:avLst/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59"/>
          <p:cNvSpPr/>
          <p:nvPr/>
        </p:nvSpPr>
        <p:spPr>
          <a:xfrm>
            <a:off x="1005840" y="5285232"/>
            <a:ext cx="1627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· Modelo de dados — a granularidade da tabela fato, e as dimensões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59"/>
          <p:cNvSpPr/>
          <p:nvPr/>
        </p:nvSpPr>
        <p:spPr>
          <a:xfrm>
            <a:off x="685800" y="5943600"/>
            <a:ext cx="128016" cy="128016"/>
          </a:xfrm>
          <a:prstGeom prst="rect">
            <a:avLst/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59"/>
          <p:cNvSpPr/>
          <p:nvPr/>
        </p:nvSpPr>
        <p:spPr>
          <a:xfrm>
            <a:off x="1005840" y="5815584"/>
            <a:ext cx="1627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· Qualidade — onde ficam as validações, o que acontece com um registro reprovado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59"/>
          <p:cNvSpPr/>
          <p:nvPr/>
        </p:nvSpPr>
        <p:spPr>
          <a:xfrm>
            <a:off x="685800" y="6473952"/>
            <a:ext cx="128016" cy="128016"/>
          </a:xfrm>
          <a:prstGeom prst="rect">
            <a:avLst/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59"/>
          <p:cNvSpPr/>
          <p:nvPr/>
        </p:nvSpPr>
        <p:spPr>
          <a:xfrm>
            <a:off x="1005840" y="6345936"/>
            <a:ext cx="1627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· Operação — a planilha atrasou: para ou continua? a API corrige o passado sem duplicar?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59"/>
          <p:cNvSpPr/>
          <p:nvPr/>
        </p:nvSpPr>
        <p:spPr>
          <a:xfrm>
            <a:off x="685800" y="7004304"/>
            <a:ext cx="128016" cy="128016"/>
          </a:xfrm>
          <a:prstGeom prst="rect">
            <a:avLst/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59"/>
          <p:cNvSpPr/>
          <p:nvPr/>
        </p:nvSpPr>
        <p:spPr>
          <a:xfrm>
            <a:off x="1005840" y="6876288"/>
            <a:ext cx="1627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· Trade-offs — o que quebra primeiro quando a rede dobra de tamanho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59"/>
          <p:cNvSpPr/>
          <p:nvPr/>
        </p:nvSpPr>
        <p:spPr>
          <a:xfrm>
            <a:off x="685800" y="7543800"/>
            <a:ext cx="16916400" cy="868680"/>
          </a:xfrm>
          <a:prstGeom prst="roundRect">
            <a:avLst>
              <a:gd fmla="val 10526" name="adj"/>
            </a:avLst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59"/>
          <p:cNvSpPr/>
          <p:nvPr/>
        </p:nvSpPr>
        <p:spPr>
          <a:xfrm>
            <a:off x="868680" y="7543800"/>
            <a:ext cx="16550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05D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9005D"/>
                </a:solidFill>
                <a:latin typeface="Arial"/>
                <a:ea typeface="Arial"/>
                <a:cs typeface="Arial"/>
                <a:sym typeface="Arial"/>
              </a:rPr>
              <a:t>A pergunta 5 é a mais difícil. Se você chegou na palavra “idempotência”, você entendeu a aula.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05D"/>
        </a:solidFill>
      </p:bgPr>
    </p:bg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60"/>
          <p:cNvSpPr/>
          <p:nvPr/>
        </p:nvSpPr>
        <p:spPr>
          <a:xfrm>
            <a:off x="685800" y="384048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[ SE ALGUÉM QUISER VER AGORA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60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0900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panda_icon.png" id="1051" name="Google Shape;105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866376"/>
            <a:ext cx="384048" cy="3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60"/>
          <p:cNvSpPr/>
          <p:nvPr/>
        </p:nvSpPr>
        <p:spPr>
          <a:xfrm>
            <a:off x="822960" y="9829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 2026  ·  ENGENHARIA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60"/>
          <p:cNvSpPr/>
          <p:nvPr/>
        </p:nvSpPr>
        <p:spPr>
          <a:xfrm>
            <a:off x="16824960" y="982980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9 / 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60"/>
          <p:cNvSpPr/>
          <p:nvPr/>
        </p:nvSpPr>
        <p:spPr>
          <a:xfrm>
            <a:off x="685800" y="960120"/>
            <a:ext cx="1691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Um jeito de resolver — não o único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60"/>
          <p:cNvSpPr/>
          <p:nvPr/>
        </p:nvSpPr>
        <p:spPr>
          <a:xfrm>
            <a:off x="685800" y="1783080"/>
            <a:ext cx="1691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1550"/>
              <a:buFont typeface="Arial"/>
              <a:buNone/>
            </a:pPr>
            <a:r>
              <a:rPr b="0" i="1" lang="en-US" sz="1550" u="none" cap="none" strike="noStrike">
                <a:solidFill>
                  <a:srgbClr val="C9D6E8"/>
                </a:solidFill>
                <a:latin typeface="Arial"/>
                <a:ea typeface="Arial"/>
                <a:cs typeface="Arial"/>
                <a:sym typeface="Arial"/>
              </a:rPr>
              <a:t>Não existe resposta única. Isto é o raciocínio esperado, não um molde pra decorar.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60"/>
          <p:cNvSpPr/>
          <p:nvPr/>
        </p:nvSpPr>
        <p:spPr>
          <a:xfrm>
            <a:off x="1060704" y="2203704"/>
            <a:ext cx="16166592" cy="439277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05003A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outputs/ativos-slides/case_resolucao_arq.png" id="1057" name="Google Shape;1057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8720" y="2331720"/>
            <a:ext cx="15910560" cy="4136746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60"/>
          <p:cNvSpPr/>
          <p:nvPr/>
        </p:nvSpPr>
        <p:spPr>
          <a:xfrm>
            <a:off x="685800" y="6870802"/>
            <a:ext cx="118872" cy="118872"/>
          </a:xfrm>
          <a:prstGeom prst="rect">
            <a:avLst/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0"/>
          <p:cNvSpPr/>
          <p:nvPr/>
        </p:nvSpPr>
        <p:spPr>
          <a:xfrm>
            <a:off x="978408" y="6788506"/>
            <a:ext cx="779983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 · Antes de desenhar — a pergunta certa muda a arquitetura inteira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60"/>
          <p:cNvSpPr/>
          <p:nvPr/>
        </p:nvSpPr>
        <p:spPr>
          <a:xfrm>
            <a:off x="685800" y="7529170"/>
            <a:ext cx="118872" cy="118872"/>
          </a:xfrm>
          <a:prstGeom prst="rect">
            <a:avLst/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60"/>
          <p:cNvSpPr/>
          <p:nvPr/>
        </p:nvSpPr>
        <p:spPr>
          <a:xfrm>
            <a:off x="978408" y="7446874"/>
            <a:ext cx="779983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· Granularidade — um item de pedido, não um pedido (senão "por categoria" fica impossível)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60"/>
          <p:cNvSpPr/>
          <p:nvPr/>
        </p:nvSpPr>
        <p:spPr>
          <a:xfrm>
            <a:off x="685800" y="8187538"/>
            <a:ext cx="118872" cy="118872"/>
          </a:xfrm>
          <a:prstGeom prst="rect">
            <a:avLst/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0"/>
          <p:cNvSpPr/>
          <p:nvPr/>
        </p:nvSpPr>
        <p:spPr>
          <a:xfrm>
            <a:off x="978408" y="8105242"/>
            <a:ext cx="779983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· Qualidade — quarentena, não descarte; 10% × 0,10 não se adivinha, se documenta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60"/>
          <p:cNvSpPr/>
          <p:nvPr/>
        </p:nvSpPr>
        <p:spPr>
          <a:xfrm>
            <a:off x="9509760" y="6870802"/>
            <a:ext cx="118872" cy="118872"/>
          </a:xfrm>
          <a:prstGeom prst="rect">
            <a:avLst/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60"/>
          <p:cNvSpPr/>
          <p:nvPr/>
        </p:nvSpPr>
        <p:spPr>
          <a:xfrm>
            <a:off x="9802368" y="6788506"/>
            <a:ext cx="779983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4a · Planilha atrasou — continua, sinaliza, alerta: decisão de negócio, não técnica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60"/>
          <p:cNvSpPr/>
          <p:nvPr/>
        </p:nvSpPr>
        <p:spPr>
          <a:xfrm>
            <a:off x="9509760" y="7529170"/>
            <a:ext cx="118872" cy="118872"/>
          </a:xfrm>
          <a:prstGeom prst="rect">
            <a:avLst/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0"/>
          <p:cNvSpPr/>
          <p:nvPr/>
        </p:nvSpPr>
        <p:spPr>
          <a:xfrm>
            <a:off x="9802368" y="7446874"/>
            <a:ext cx="779983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4b · Correção sem duplicar — upsert por id_pedido + janela móvel de 8 dias = idempotência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60"/>
          <p:cNvSpPr/>
          <p:nvPr/>
        </p:nvSpPr>
        <p:spPr>
          <a:xfrm>
            <a:off x="9509760" y="8187538"/>
            <a:ext cx="118872" cy="118872"/>
          </a:xfrm>
          <a:prstGeom prst="rect">
            <a:avLst/>
          </a:prstGeom>
          <a:solidFill>
            <a:srgbClr val="00F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60"/>
          <p:cNvSpPr/>
          <p:nvPr/>
        </p:nvSpPr>
        <p:spPr>
          <a:xfrm>
            <a:off x="9802368" y="8105242"/>
            <a:ext cx="779983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· Onde quebra primeiro — o PDV, a janela das 4h, a planilha. Nem tudo precisa virar streaming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60"/>
          <p:cNvSpPr/>
          <p:nvPr/>
        </p:nvSpPr>
        <p:spPr>
          <a:xfrm>
            <a:off x="685800" y="9037930"/>
            <a:ext cx="1691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063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00F063"/>
                </a:solidFill>
                <a:latin typeface="Courier New"/>
                <a:ea typeface="Courier New"/>
                <a:cs typeface="Courier New"/>
                <a:sym typeface="Courier New"/>
              </a:rPr>
              <a:t>Gabarito comentado, bloco a bloco: CASE-RESOLUCAO-DIRETA.md, no repositório do grupo.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